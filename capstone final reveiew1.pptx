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handoutMasterIdLst>
    <p:handoutMasterId r:id="rId18"/>
  </p:handoutMasterIdLst>
  <p:sldIdLst>
    <p:sldId id="531" r:id="rId2"/>
    <p:sldId id="289" r:id="rId3"/>
    <p:sldId id="292" r:id="rId4"/>
    <p:sldId id="535" r:id="rId5"/>
    <p:sldId id="534" r:id="rId6"/>
    <p:sldId id="536" r:id="rId7"/>
    <p:sldId id="298" r:id="rId8"/>
    <p:sldId id="532" r:id="rId9"/>
    <p:sldId id="537" r:id="rId10"/>
    <p:sldId id="303" r:id="rId11"/>
    <p:sldId id="305" r:id="rId12"/>
    <p:sldId id="539" r:id="rId13"/>
    <p:sldId id="302" r:id="rId14"/>
    <p:sldId id="307" r:id="rId15"/>
    <p:sldId id="301" r:id="rId16"/>
  </p:sldIdLst>
  <p:sldSz cx="12192000" cy="6858000"/>
  <p:notesSz cx="6858000" cy="9144000"/>
  <p:embeddedFontLst>
    <p:embeddedFont>
      <p:font typeface="Aharoni" panose="02010803020104030203" pitchFamily="2" charset="-79"/>
      <p:bold r:id="rId19"/>
    </p:embeddedFont>
    <p:embeddedFont>
      <p:font typeface="Georgia" panose="02040502050405020303" pitchFamily="18" charset="0"/>
      <p:regular r:id="rId20"/>
      <p:bold r:id="rId21"/>
      <p:italic r:id="rId22"/>
      <p:boldItalic r:id="rId23"/>
    </p:embeddedFont>
    <p:embeddedFont>
      <p:font typeface="Montserrat" panose="00000500000000000000" pitchFamily="2" charset="0"/>
      <p:regular r:id="rId24"/>
      <p:bold r:id="rId25"/>
      <p:italic r:id="rId26"/>
      <p:boldItalic r:id="rId27"/>
    </p:embeddedFont>
    <p:embeddedFont>
      <p:font typeface="Montserrat Medium" panose="00000600000000000000" pitchFamily="2" charset="0"/>
      <p:regular r:id="rId28"/>
      <p:italic r:id="rId29"/>
    </p:embeddedFont>
    <p:embeddedFont>
      <p:font typeface="Open Sans" panose="020B0606030504020204" pitchFamily="34" charset="0"/>
      <p:regular r:id="rId30"/>
      <p:bold r:id="rId31"/>
      <p:italic r:id="rId32"/>
      <p:boldItalic r:id="rId33"/>
    </p:embeddedFont>
    <p:embeddedFont>
      <p:font typeface="Plus Jakarta Sans" panose="020B0604020202020204"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custDataLst>
    <p:tags r:id="rId4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003D9D34-C345-44BB-AFD7-DEB91BB17265}">
          <p14:sldIdLst>
            <p14:sldId id="531"/>
            <p14:sldId id="289"/>
            <p14:sldId id="292"/>
            <p14:sldId id="535"/>
            <p14:sldId id="534"/>
            <p14:sldId id="536"/>
            <p14:sldId id="298"/>
            <p14:sldId id="532"/>
            <p14:sldId id="537"/>
            <p14:sldId id="303"/>
            <p14:sldId id="305"/>
            <p14:sldId id="539"/>
            <p14:sldId id="302"/>
            <p14:sldId id="307"/>
            <p14:sldId id="30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69"/>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148" d="100"/>
          <a:sy n="148" d="100"/>
        </p:scale>
        <p:origin x="114" y="120"/>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1.fntdata"/><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font" Target="fonts/font27.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tags" Target="tags/tag1.xml"/><Relationship Id="rId20" Type="http://schemas.openxmlformats.org/officeDocument/2006/relationships/font" Target="fonts/font2.fntdata"/><Relationship Id="rId41" Type="http://schemas.openxmlformats.org/officeDocument/2006/relationships/font" Target="fonts/font23.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20-11-2025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082" y="0"/>
            <a:ext cx="12193235" cy="6876188"/>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723535" y="3157752"/>
            <a:ext cx="6564399"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46216" y="5034523"/>
            <a:ext cx="5011160" cy="954067"/>
          </a:xfrm>
          <a:prstGeom prst="rect">
            <a:avLst/>
          </a:prstGeom>
          <a:noFill/>
          <a:ln>
            <a:noFill/>
          </a:ln>
        </p:spPr>
        <p:txBody>
          <a:bodyPr spcFirstLastPara="1" wrap="square" lIns="91425" tIns="45700" rIns="91425" bIns="45700" anchor="t" anchorCtr="0">
            <a:spAutoFit/>
          </a:bodyPr>
          <a:lstStyle/>
          <a:p>
            <a:pPr marR="0" lvl="0" algn="just" rtl="0">
              <a:lnSpc>
                <a:spcPct val="100000"/>
              </a:lnSpc>
              <a:spcBef>
                <a:spcPts val="0"/>
              </a:spcBef>
              <a:spcAft>
                <a:spcPts val="0"/>
              </a:spcAft>
              <a:buClr>
                <a:srgbClr val="000000"/>
              </a:buClr>
              <a:buSzPts val="1400"/>
            </a:pPr>
            <a:r>
              <a:rPr lang="en-US" sz="1400" b="1" i="0" u="none" strike="noStrike" cap="none" dirty="0">
                <a:solidFill>
                  <a:schemeClr val="dk1"/>
                </a:solidFill>
                <a:latin typeface="Montserrat Medium"/>
                <a:ea typeface="Montserrat Medium"/>
                <a:cs typeface="Montserrat Medium"/>
                <a:sym typeface="Montserrat Medium"/>
              </a:rPr>
              <a:t>Project Team:</a:t>
            </a:r>
          </a:p>
          <a:p>
            <a:pPr marL="285750" marR="0" lvl="0" indent="-285750" algn="just"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Montserrat Medium"/>
                <a:cs typeface="Montserrat Medium"/>
                <a:sym typeface="Montserrat Medium"/>
              </a:rPr>
              <a:t> </a:t>
            </a:r>
            <a:r>
              <a:rPr lang="en-US" sz="1400" b="1" i="0" u="none" strike="noStrike" cap="none" dirty="0">
                <a:solidFill>
                  <a:schemeClr val="dk1"/>
                </a:solidFill>
                <a:latin typeface="Montserrat Medium"/>
                <a:ea typeface="Arial"/>
                <a:cs typeface="Arial"/>
                <a:sym typeface="Montserrat Medium"/>
              </a:rPr>
              <a:t>Bharath Narasimha Sai-BU22EECE0100184</a:t>
            </a:r>
          </a:p>
          <a:p>
            <a:pPr marL="285750" marR="0" lvl="0" indent="-285750" algn="just"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err="1">
                <a:solidFill>
                  <a:schemeClr val="dk1"/>
                </a:solidFill>
                <a:latin typeface="Montserrat Medium"/>
                <a:ea typeface="Arial"/>
                <a:cs typeface="Arial"/>
                <a:sym typeface="Montserrat Medium"/>
              </a:rPr>
              <a:t>Gannoju</a:t>
            </a:r>
            <a:r>
              <a:rPr lang="en-US" sz="1400" b="1" i="0" u="none" strike="noStrike" cap="none" dirty="0">
                <a:solidFill>
                  <a:schemeClr val="dk1"/>
                </a:solidFill>
                <a:latin typeface="Montserrat Medium"/>
                <a:ea typeface="Arial"/>
                <a:cs typeface="Arial"/>
                <a:sym typeface="Montserrat Medium"/>
              </a:rPr>
              <a:t> Om Prakash Chary</a:t>
            </a:r>
            <a:r>
              <a:rPr lang="en-US" b="1" dirty="0">
                <a:solidFill>
                  <a:schemeClr val="dk1"/>
                </a:solidFill>
                <a:latin typeface="Montserrat Medium"/>
                <a:sym typeface="Montserrat Medium"/>
              </a:rPr>
              <a:t>-</a:t>
            </a:r>
            <a:r>
              <a:rPr lang="en-US" sz="1400" b="1" i="0" u="none" strike="noStrike" cap="none" dirty="0">
                <a:solidFill>
                  <a:schemeClr val="dk1"/>
                </a:solidFill>
                <a:latin typeface="Montserrat Medium"/>
                <a:ea typeface="Arial"/>
                <a:cs typeface="Arial"/>
                <a:sym typeface="Montserrat Medium"/>
              </a:rPr>
              <a:t>BU22EECE0100304</a:t>
            </a:r>
          </a:p>
          <a:p>
            <a:pPr marL="285750" marR="0" lvl="0" indent="-285750" algn="just"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Arial"/>
                <a:ea typeface="Arial"/>
                <a:cs typeface="Arial"/>
                <a:sym typeface="Arial"/>
              </a:rPr>
              <a:t>Abhishek Hiremath</a:t>
            </a:r>
            <a:r>
              <a:rPr lang="en-US" b="1" dirty="0">
                <a:solidFill>
                  <a:schemeClr val="dk1"/>
                </a:solidFill>
              </a:rPr>
              <a:t>-</a:t>
            </a:r>
            <a:r>
              <a:rPr lang="en-US" sz="1400" b="1" i="0" u="none" strike="noStrike" cap="none" dirty="0">
                <a:solidFill>
                  <a:schemeClr val="dk1"/>
                </a:solidFill>
                <a:latin typeface="Arial"/>
                <a:ea typeface="Arial"/>
                <a:cs typeface="Arial"/>
                <a:sym typeface="Arial"/>
              </a:rPr>
              <a:t>BU22EECE0100448</a:t>
            </a:r>
            <a:endParaRPr lang="en-US" b="1" dirty="0">
              <a:solidFill>
                <a:schemeClr val="dk1"/>
              </a:solidFill>
              <a:latin typeface="Montserrat Medium"/>
              <a:sym typeface="Montserrat Medium"/>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156700" y="4926802"/>
            <a:ext cx="5030466" cy="116951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a:t>
            </a:r>
            <a:endParaRPr lang="en-US" b="1" dirty="0">
              <a:solidFill>
                <a:schemeClr val="dk1"/>
              </a:solidFill>
              <a:latin typeface="Montserrat Medium"/>
              <a:ea typeface="Montserrat Medium"/>
              <a:cs typeface="Montserrat Medium"/>
              <a:sym typeface="Montserrat Medium"/>
            </a:endParaRPr>
          </a:p>
          <a:p>
            <a:pPr marL="285750" marR="0" lvl="0" indent="-285750" algn="just"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Dr. </a:t>
            </a:r>
            <a:r>
              <a:rPr lang="en-US" sz="1400" b="1" i="0" u="none" strike="noStrike" cap="none" dirty="0">
                <a:solidFill>
                  <a:schemeClr val="dk1"/>
                </a:solidFill>
                <a:latin typeface="Montserrat Medium" panose="00000600000000000000" pitchFamily="2" charset="0"/>
                <a:sym typeface="Montserrat Medium"/>
              </a:rPr>
              <a:t>Kamalanathan</a:t>
            </a:r>
            <a:r>
              <a:rPr lang="en-US" sz="1400" b="1" i="0" u="none" strike="noStrike" cap="none" dirty="0">
                <a:solidFill>
                  <a:schemeClr val="dk1"/>
                </a:solidFill>
                <a:latin typeface="Montserrat Medium"/>
                <a:ea typeface="Arial"/>
                <a:cs typeface="Arial"/>
                <a:sym typeface="Montserrat Medium"/>
              </a:rPr>
              <a:t> C</a:t>
            </a:r>
          </a:p>
          <a:p>
            <a:pPr marR="0" lvl="0" algn="just" rtl="0">
              <a:lnSpc>
                <a:spcPct val="100000"/>
              </a:lnSpc>
              <a:spcBef>
                <a:spcPts val="0"/>
              </a:spcBef>
              <a:spcAft>
                <a:spcPts val="0"/>
              </a:spcAft>
              <a:buClr>
                <a:srgbClr val="000000"/>
              </a:buClr>
              <a:buSzPts val="1400"/>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lvl="0" indent="-285750" algn="just">
              <a:buSzPts val="1400"/>
              <a:buFont typeface="Arial" panose="020B0604020202020204" pitchFamily="34" charset="0"/>
              <a:buChar char="•"/>
            </a:pPr>
            <a:r>
              <a:rPr lang="en-US" b="1" dirty="0">
                <a:latin typeface="Montserrat Medium" panose="00000600000000000000" pitchFamily="2" charset="0"/>
              </a:rPr>
              <a:t>Dr. </a:t>
            </a:r>
            <a:r>
              <a:rPr lang="en-US" b="1" dirty="0">
                <a:latin typeface="Montserrat Medium" panose="00000600000000000000" pitchFamily="2" charset="0"/>
                <a:cs typeface="Times New Roman" panose="02020603050405020304" pitchFamily="18" charset="0"/>
              </a:rPr>
              <a:t>Subhashish</a:t>
            </a:r>
            <a:r>
              <a:rPr lang="en-US" b="1" dirty="0">
                <a:latin typeface="Montserrat Medium" panose="00000600000000000000" pitchFamily="2" charset="0"/>
              </a:rPr>
              <a:t> Tiwari</a:t>
            </a:r>
            <a:endParaRPr lang="en-US" b="1" dirty="0">
              <a:solidFill>
                <a:schemeClr val="dk1"/>
              </a:solidFill>
              <a:latin typeface="Montserrat Medium" panose="00000600000000000000" pitchFamily="2" charset="0"/>
              <a:ea typeface="Montserrat Medium"/>
              <a:cs typeface="Montserrat Medium"/>
              <a:sym typeface="Montserrat Medium"/>
            </a:endParaRPr>
          </a:p>
          <a:p>
            <a:pPr marL="285750" marR="0" lvl="0" indent="-285750" algn="just" rtl="0">
              <a:lnSpc>
                <a:spcPct val="100000"/>
              </a:lnSpc>
              <a:spcBef>
                <a:spcPts val="0"/>
              </a:spcBef>
              <a:spcAft>
                <a:spcPts val="0"/>
              </a:spcAft>
              <a:buClr>
                <a:srgbClr val="000000"/>
              </a:buClr>
              <a:buSzPts val="1400"/>
              <a:buFont typeface="Arial" panose="020B0604020202020204" pitchFamily="34" charset="0"/>
              <a:buChar char="•"/>
            </a:pPr>
            <a:endParaRPr lang="en-US" sz="1400" b="1" i="0" u="none" strike="noStrike" cap="none" dirty="0">
              <a:solidFill>
                <a:schemeClr val="dk1"/>
              </a:solidFill>
              <a:latin typeface="Montserrat Medium"/>
              <a:ea typeface="Montserrat Medium"/>
              <a:cs typeface="Montserrat Medium"/>
              <a:sym typeface="Montserrat Medium"/>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133753" y="686892"/>
            <a:ext cx="11924493" cy="1815841"/>
          </a:xfrm>
          <a:prstGeom prst="rect">
            <a:avLst/>
          </a:prstGeom>
          <a:noFill/>
          <a:ln>
            <a:noFill/>
          </a:ln>
        </p:spPr>
        <p:txBody>
          <a:bodyPr spcFirstLastPara="1" wrap="square" lIns="91425" tIns="45700" rIns="91425" bIns="45700" anchor="t" anchorCtr="0">
            <a:spAutoFit/>
          </a:bodyPr>
          <a:lstStyle/>
          <a:p>
            <a:pPr lvl="0" algn="ctr"/>
            <a:r>
              <a:rPr lang="en-US" sz="2800" b="1" dirty="0">
                <a:solidFill>
                  <a:srgbClr val="007069"/>
                </a:solidFill>
              </a:rPr>
              <a:t>QoS-Aware Seamless Vertical Handoff in Heterogeneous Wireless Networks using SDN and MIPv6</a:t>
            </a:r>
          </a:p>
          <a:p>
            <a:pPr lvl="0" algn="ctr"/>
            <a:endParaRPr lang="en-US" sz="2800" dirty="0"/>
          </a:p>
          <a:p>
            <a:pPr marL="0" marR="0" lvl="0" indent="0" algn="ctr" rtl="0">
              <a:spcBef>
                <a:spcPts val="0"/>
              </a:spcBef>
              <a:spcAft>
                <a:spcPts val="0"/>
              </a:spcAft>
              <a:buNone/>
            </a:pPr>
            <a:endParaRPr lang="en-US" sz="2800" dirty="0"/>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Review-II</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sng" strike="noStrike" cap="none" dirty="0">
                <a:solidFill>
                  <a:srgbClr val="000000"/>
                </a:solidFill>
                <a:latin typeface="Montserrat"/>
                <a:ea typeface="Montserrat"/>
                <a:cs typeface="Montserrat"/>
                <a:sym typeface="Montserrat"/>
              </a:rPr>
              <a:t>Objective and Goals</a:t>
            </a:r>
            <a:endParaRPr u="sng"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26132"/>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248364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
        <p:nvSpPr>
          <p:cNvPr id="4" name="TextBox 3">
            <a:extLst>
              <a:ext uri="{FF2B5EF4-FFF2-40B4-BE49-F238E27FC236}">
                <a16:creationId xmlns:a16="http://schemas.microsoft.com/office/drawing/2014/main" id="{0E752D7E-2F43-7117-8DF7-F51767D7ADA7}"/>
              </a:ext>
            </a:extLst>
          </p:cNvPr>
          <p:cNvSpPr txBox="1"/>
          <p:nvPr/>
        </p:nvSpPr>
        <p:spPr>
          <a:xfrm>
            <a:off x="550606" y="2995544"/>
            <a:ext cx="11326762" cy="2585323"/>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t>Design a centralized SDN controller for real-time vertical handoff management between heterogeneous wireless networks (Wi-Fi, LTE, 5G).</a:t>
            </a:r>
          </a:p>
          <a:p>
            <a:pPr marL="285750" indent="-285750" algn="just">
              <a:buFont typeface="Arial" panose="020B0604020202020204" pitchFamily="34" charset="0"/>
              <a:buChar char="•"/>
            </a:pPr>
            <a:r>
              <a:rPr lang="en-IN" sz="1800" dirty="0"/>
              <a:t>Develop a hybrid Fuzzy-TOPSIS multi-criteria decision algorithm using QoS parameters: RSSI, bandwidth, latency, packet loss, and cost.</a:t>
            </a:r>
          </a:p>
          <a:p>
            <a:pPr marL="285750" indent="-285750" algn="just">
              <a:buFont typeface="Arial" panose="020B0604020202020204" pitchFamily="34" charset="0"/>
              <a:buChar char="•"/>
            </a:pPr>
            <a:r>
              <a:rPr lang="en-IN" sz="1800" dirty="0"/>
              <a:t>Integrate Mobile IPv6 (MIPv6) for seamless IP address continuity and session persistence during handovers.</a:t>
            </a:r>
          </a:p>
          <a:p>
            <a:pPr marL="285750" indent="-285750" algn="just">
              <a:buFont typeface="Arial" panose="020B0604020202020204" pitchFamily="34" charset="0"/>
              <a:buChar char="•"/>
            </a:pPr>
            <a:r>
              <a:rPr lang="en-IN" sz="1800" dirty="0"/>
              <a:t>Implement and validate the framework through Python-based simulation measuring handover latency, packet loss, and ping-pong events.</a:t>
            </a:r>
          </a:p>
          <a:p>
            <a:pPr marL="285750" indent="-285750" algn="just">
              <a:buFont typeface="Arial" panose="020B0604020202020204" pitchFamily="34" charset="0"/>
              <a:buChar char="•"/>
            </a:pPr>
            <a:r>
              <a:rPr lang="en-IN" sz="1800" dirty="0"/>
              <a:t>Compare performance against existing approaches and investigate scalability for future 5G/6G networks.</a:t>
            </a:r>
          </a:p>
        </p:txBody>
      </p:sp>
      <p:sp>
        <p:nvSpPr>
          <p:cNvPr id="6" name="TextBox 5">
            <a:extLst>
              <a:ext uri="{FF2B5EF4-FFF2-40B4-BE49-F238E27FC236}">
                <a16:creationId xmlns:a16="http://schemas.microsoft.com/office/drawing/2014/main" id="{B7B65ECF-6425-F72B-E847-CE3BC76B2794}"/>
              </a:ext>
            </a:extLst>
          </p:cNvPr>
          <p:cNvSpPr txBox="1"/>
          <p:nvPr/>
        </p:nvSpPr>
        <p:spPr>
          <a:xfrm>
            <a:off x="599768" y="1160206"/>
            <a:ext cx="10992464" cy="923330"/>
          </a:xfrm>
          <a:prstGeom prst="rect">
            <a:avLst/>
          </a:prstGeom>
          <a:noFill/>
        </p:spPr>
        <p:txBody>
          <a:bodyPr wrap="square" rtlCol="0">
            <a:spAutoFit/>
          </a:bodyPr>
          <a:lstStyle/>
          <a:p>
            <a:pPr algn="just"/>
            <a:r>
              <a:rPr lang="en-IN" sz="1800" dirty="0"/>
              <a:t>Design and implement an intelligent handoff system for heterogeneous wireless networks that ensures seamless connectivity and maintains high Quality of Service (QoS), leveraging Software Defined Networking (SDN) and Mobile IPv6 (MIPv6) for dynamic and efficient mobility management.</a:t>
            </a:r>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sng" strike="noStrike" cap="none" dirty="0">
                <a:solidFill>
                  <a:srgbClr val="000000"/>
                </a:solidFill>
                <a:latin typeface="Montserrat"/>
                <a:ea typeface="Montserrat"/>
                <a:cs typeface="Montserrat"/>
                <a:sym typeface="Montserrat"/>
              </a:rPr>
              <a:t>Project Plan</a:t>
            </a:r>
            <a:endParaRPr u="sng" dirty="0"/>
          </a:p>
        </p:txBody>
      </p:sp>
      <p:pic>
        <p:nvPicPr>
          <p:cNvPr id="6146" name="Picture 2">
            <a:extLst>
              <a:ext uri="{FF2B5EF4-FFF2-40B4-BE49-F238E27FC236}">
                <a16:creationId xmlns:a16="http://schemas.microsoft.com/office/drawing/2014/main" id="{35ED09E6-BE5D-1A64-D7A3-C3EF6BD71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865" y="724401"/>
            <a:ext cx="9360270" cy="5409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73FC3A-BA63-236D-90D9-7DBAAFF7AF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graphicFrame>
        <p:nvGraphicFramePr>
          <p:cNvPr id="4" name="Table 3">
            <a:extLst>
              <a:ext uri="{FF2B5EF4-FFF2-40B4-BE49-F238E27FC236}">
                <a16:creationId xmlns:a16="http://schemas.microsoft.com/office/drawing/2014/main" id="{4BD90E3F-9DF5-0603-4DFE-475BD540C131}"/>
              </a:ext>
            </a:extLst>
          </p:cNvPr>
          <p:cNvGraphicFramePr>
            <a:graphicFrameLocks noGrp="1"/>
          </p:cNvGraphicFramePr>
          <p:nvPr>
            <p:extLst>
              <p:ext uri="{D42A27DB-BD31-4B8C-83A1-F6EECF244321}">
                <p14:modId xmlns:p14="http://schemas.microsoft.com/office/powerpoint/2010/main" val="1932065116"/>
              </p:ext>
            </p:extLst>
          </p:nvPr>
        </p:nvGraphicFramePr>
        <p:xfrm>
          <a:off x="393290" y="816077"/>
          <a:ext cx="11562736" cy="5155380"/>
        </p:xfrm>
        <a:graphic>
          <a:graphicData uri="http://schemas.openxmlformats.org/drawingml/2006/table">
            <a:tbl>
              <a:tblPr firstRow="1" firstCol="1" bandRow="1">
                <a:tableStyleId>{DE7AD339-51BE-4A38-A1C7-CCF28897F289}</a:tableStyleId>
              </a:tblPr>
              <a:tblGrid>
                <a:gridCol w="2890684">
                  <a:extLst>
                    <a:ext uri="{9D8B030D-6E8A-4147-A177-3AD203B41FA5}">
                      <a16:colId xmlns:a16="http://schemas.microsoft.com/office/drawing/2014/main" val="1362524407"/>
                    </a:ext>
                  </a:extLst>
                </a:gridCol>
                <a:gridCol w="2890684">
                  <a:extLst>
                    <a:ext uri="{9D8B030D-6E8A-4147-A177-3AD203B41FA5}">
                      <a16:colId xmlns:a16="http://schemas.microsoft.com/office/drawing/2014/main" val="3817871990"/>
                    </a:ext>
                  </a:extLst>
                </a:gridCol>
                <a:gridCol w="2890684">
                  <a:extLst>
                    <a:ext uri="{9D8B030D-6E8A-4147-A177-3AD203B41FA5}">
                      <a16:colId xmlns:a16="http://schemas.microsoft.com/office/drawing/2014/main" val="2459224871"/>
                    </a:ext>
                  </a:extLst>
                </a:gridCol>
                <a:gridCol w="2890684">
                  <a:extLst>
                    <a:ext uri="{9D8B030D-6E8A-4147-A177-3AD203B41FA5}">
                      <a16:colId xmlns:a16="http://schemas.microsoft.com/office/drawing/2014/main" val="1115518535"/>
                    </a:ext>
                  </a:extLst>
                </a:gridCol>
              </a:tblGrid>
              <a:tr h="783309">
                <a:tc>
                  <a:txBody>
                    <a:bodyPr/>
                    <a:lstStyle/>
                    <a:p>
                      <a:pPr>
                        <a:lnSpc>
                          <a:spcPct val="150000"/>
                        </a:lnSpc>
                        <a:spcAft>
                          <a:spcPts val="600"/>
                        </a:spcAft>
                        <a:buNone/>
                      </a:pPr>
                      <a:r>
                        <a:rPr lang="en-US" sz="1600" b="1" u="sng" dirty="0">
                          <a:effectLst/>
                        </a:rPr>
                        <a:t>Title and Author</a:t>
                      </a:r>
                      <a:endParaRPr lang="en-IN" sz="1600" b="1" u="sng"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b="1" u="sng" dirty="0">
                          <a:effectLst/>
                        </a:rPr>
                        <a:t>Problem Statement</a:t>
                      </a:r>
                      <a:endParaRPr lang="en-IN" sz="1600" b="1" u="sng"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b="1" u="sng" dirty="0">
                          <a:effectLst/>
                        </a:rPr>
                        <a:t>Methodology</a:t>
                      </a:r>
                      <a:endParaRPr lang="en-IN" sz="1600" b="1" u="sng"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b="1" u="sng" dirty="0">
                          <a:effectLst/>
                        </a:rPr>
                        <a:t>Result</a:t>
                      </a:r>
                      <a:endParaRPr lang="en-IN" sz="1600" b="1" u="sng"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2096231655"/>
                  </a:ext>
                </a:extLst>
              </a:tr>
              <a:tr h="2120488">
                <a:tc>
                  <a:txBody>
                    <a:bodyPr/>
                    <a:lstStyle/>
                    <a:p>
                      <a:pPr>
                        <a:lnSpc>
                          <a:spcPct val="150000"/>
                        </a:lnSpc>
                        <a:spcAft>
                          <a:spcPts val="600"/>
                        </a:spcAft>
                        <a:buNone/>
                      </a:pPr>
                      <a:r>
                        <a:rPr lang="en-US" sz="1600">
                          <a:effectLst/>
                        </a:rPr>
                        <a:t>Dynamic Mobility and Handover Management in SDN-Based 5G HetNets</a:t>
                      </a:r>
                      <a:endParaRPr lang="en-IN" sz="1600">
                        <a:effectLst/>
                      </a:endParaRPr>
                    </a:p>
                    <a:p>
                      <a:pPr>
                        <a:lnSpc>
                          <a:spcPct val="150000"/>
                        </a:lnSpc>
                        <a:spcAft>
                          <a:spcPts val="600"/>
                        </a:spcAft>
                        <a:buNone/>
                      </a:pPr>
                      <a:r>
                        <a:rPr lang="en-US" sz="1600">
                          <a:effectLst/>
                        </a:rPr>
                        <a:t>Khan et al., 2024</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a:effectLst/>
                        </a:rPr>
                        <a:t>Frequent and unnecessary handovers in dense heterogeneous networks degrade QoS and increase signaling overhead.</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a:effectLst/>
                        </a:rPr>
                        <a:t>Multi-parameter best cell selection using SDN controller. Algorithm based on RSS, load, dwell time, direction. Simulated in 5G HetNet scenario.</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dirty="0">
                          <a:effectLst/>
                        </a:rPr>
                        <a:t>39% reduction in handovers; improved throughput and lower delay. SDN enables efficient, dynamic mobility.</a:t>
                      </a:r>
                      <a:endParaRPr lang="en-IN"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4290616305"/>
                  </a:ext>
                </a:extLst>
              </a:tr>
              <a:tr h="2120488">
                <a:tc>
                  <a:txBody>
                    <a:bodyPr/>
                    <a:lstStyle/>
                    <a:p>
                      <a:pPr>
                        <a:lnSpc>
                          <a:spcPct val="150000"/>
                        </a:lnSpc>
                        <a:spcAft>
                          <a:spcPts val="600"/>
                        </a:spcAft>
                        <a:buNone/>
                      </a:pPr>
                      <a:r>
                        <a:rPr lang="en-US" sz="1600">
                          <a:effectLst/>
                        </a:rPr>
                        <a:t>QoS-Aware and Fault-Tolerant Handovers in SDN-Based 5G Networks</a:t>
                      </a:r>
                      <a:endParaRPr lang="en-IN" sz="1600">
                        <a:effectLst/>
                      </a:endParaRPr>
                    </a:p>
                    <a:p>
                      <a:pPr>
                        <a:lnSpc>
                          <a:spcPct val="150000"/>
                        </a:lnSpc>
                        <a:spcAft>
                          <a:spcPts val="600"/>
                        </a:spcAft>
                        <a:buNone/>
                      </a:pPr>
                      <a:r>
                        <a:rPr lang="en-US" sz="1600">
                          <a:effectLst/>
                        </a:rPr>
                        <a:t>Recent Supporting Paper</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a:effectLst/>
                        </a:rPr>
                        <a:t>Vertical handoffs can cause packet loss, latency spikes, and service disruption, especially in real-time apps.</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a:effectLst/>
                        </a:rPr>
                        <a:t>SDN-based centralized control with QoS criteria. Fault-tolerant handover logic tested in wireless emulation environments.</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600" dirty="0">
                          <a:effectLst/>
                        </a:rPr>
                        <a:t>Enhanced QoS during handoff. Fault-tolerance reduces service interruption. Improved performance for multimedia apps.</a:t>
                      </a:r>
                      <a:endParaRPr lang="en-IN"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2257197455"/>
                  </a:ext>
                </a:extLst>
              </a:tr>
            </a:tbl>
          </a:graphicData>
        </a:graphic>
      </p:graphicFrame>
      <p:sp>
        <p:nvSpPr>
          <p:cNvPr id="5" name="TextBox 4">
            <a:extLst>
              <a:ext uri="{FF2B5EF4-FFF2-40B4-BE49-F238E27FC236}">
                <a16:creationId xmlns:a16="http://schemas.microsoft.com/office/drawing/2014/main" id="{F7D080E4-00F0-39D2-811C-44C5E9C92E2B}"/>
              </a:ext>
            </a:extLst>
          </p:cNvPr>
          <p:cNvSpPr txBox="1"/>
          <p:nvPr/>
        </p:nvSpPr>
        <p:spPr>
          <a:xfrm>
            <a:off x="393290" y="226142"/>
            <a:ext cx="11562736" cy="400110"/>
          </a:xfrm>
          <a:prstGeom prst="rect">
            <a:avLst/>
          </a:prstGeom>
          <a:noFill/>
        </p:spPr>
        <p:txBody>
          <a:bodyPr wrap="square" rtlCol="0">
            <a:spAutoFit/>
          </a:bodyPr>
          <a:lstStyle/>
          <a:p>
            <a:pPr algn="ctr"/>
            <a:r>
              <a:rPr lang="en-US" sz="2000" b="1" u="sng" dirty="0"/>
              <a:t>Literature Survey</a:t>
            </a:r>
            <a:endParaRPr lang="en-IN" sz="2000" b="1" u="sng" dirty="0"/>
          </a:p>
        </p:txBody>
      </p:sp>
    </p:spTree>
    <p:extLst>
      <p:ext uri="{BB962C8B-B14F-4D97-AF65-F5344CB8AC3E}">
        <p14:creationId xmlns:p14="http://schemas.microsoft.com/office/powerpoint/2010/main" val="1870890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D64A2D2-758F-9073-6E74-27329116137A}"/>
              </a:ext>
            </a:extLst>
          </p:cNvPr>
          <p:cNvGraphicFramePr>
            <a:graphicFrameLocks noGrp="1"/>
          </p:cNvGraphicFramePr>
          <p:nvPr>
            <p:extLst>
              <p:ext uri="{D42A27DB-BD31-4B8C-83A1-F6EECF244321}">
                <p14:modId xmlns:p14="http://schemas.microsoft.com/office/powerpoint/2010/main" val="3391762035"/>
              </p:ext>
            </p:extLst>
          </p:nvPr>
        </p:nvGraphicFramePr>
        <p:xfrm>
          <a:off x="363794" y="373626"/>
          <a:ext cx="11552900" cy="5427406"/>
        </p:xfrm>
        <a:graphic>
          <a:graphicData uri="http://schemas.openxmlformats.org/drawingml/2006/table">
            <a:tbl>
              <a:tblPr firstRow="1" firstCol="1" bandRow="1">
                <a:tableStyleId>{DE7AD339-51BE-4A38-A1C7-CCF28897F289}</a:tableStyleId>
              </a:tblPr>
              <a:tblGrid>
                <a:gridCol w="2888225">
                  <a:extLst>
                    <a:ext uri="{9D8B030D-6E8A-4147-A177-3AD203B41FA5}">
                      <a16:colId xmlns:a16="http://schemas.microsoft.com/office/drawing/2014/main" val="2564081879"/>
                    </a:ext>
                  </a:extLst>
                </a:gridCol>
                <a:gridCol w="2888225">
                  <a:extLst>
                    <a:ext uri="{9D8B030D-6E8A-4147-A177-3AD203B41FA5}">
                      <a16:colId xmlns:a16="http://schemas.microsoft.com/office/drawing/2014/main" val="1959760455"/>
                    </a:ext>
                  </a:extLst>
                </a:gridCol>
                <a:gridCol w="2888225">
                  <a:extLst>
                    <a:ext uri="{9D8B030D-6E8A-4147-A177-3AD203B41FA5}">
                      <a16:colId xmlns:a16="http://schemas.microsoft.com/office/drawing/2014/main" val="2689001627"/>
                    </a:ext>
                  </a:extLst>
                </a:gridCol>
                <a:gridCol w="2888225">
                  <a:extLst>
                    <a:ext uri="{9D8B030D-6E8A-4147-A177-3AD203B41FA5}">
                      <a16:colId xmlns:a16="http://schemas.microsoft.com/office/drawing/2014/main" val="2054099959"/>
                    </a:ext>
                  </a:extLst>
                </a:gridCol>
              </a:tblGrid>
              <a:tr h="2588625">
                <a:tc>
                  <a:txBody>
                    <a:bodyPr/>
                    <a:lstStyle/>
                    <a:p>
                      <a:pPr>
                        <a:lnSpc>
                          <a:spcPct val="150000"/>
                        </a:lnSpc>
                        <a:spcAft>
                          <a:spcPts val="600"/>
                        </a:spcAft>
                        <a:buNone/>
                      </a:pPr>
                      <a:r>
                        <a:rPr lang="en-US" sz="1800">
                          <a:effectLst/>
                        </a:rPr>
                        <a:t>Machine Learning for Handover Decision in 6G Networks</a:t>
                      </a:r>
                      <a:endParaRPr lang="en-IN" sz="1800">
                        <a:effectLst/>
                      </a:endParaRPr>
                    </a:p>
                    <a:p>
                      <a:pPr>
                        <a:lnSpc>
                          <a:spcPct val="150000"/>
                        </a:lnSpc>
                        <a:spcAft>
                          <a:spcPts val="600"/>
                        </a:spcAft>
                        <a:buNone/>
                      </a:pPr>
                      <a:r>
                        <a:rPr lang="en-US" sz="1800">
                          <a:effectLst/>
                        </a:rPr>
                        <a:t>Recent Publication (2025)</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a:effectLst/>
                        </a:rPr>
                        <a:t>Classical handover methods fail to predict user movement and network load, impacting handoff quality.</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dirty="0">
                          <a:effectLst/>
                        </a:rPr>
                        <a:t>ML algorithms trained with user mobility and network data. Edge computing assists handover prediction and selection.</a:t>
                      </a:r>
                      <a:endParaRPr lang="en-IN"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dirty="0">
                          <a:effectLst/>
                        </a:rPr>
                        <a:t>Higher handoff accuracy and lower delay. Dynamic adjustment to network conditions, useful for future 6G scenarios.</a:t>
                      </a:r>
                      <a:endParaRPr lang="en-IN"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4089721870"/>
                  </a:ext>
                </a:extLst>
              </a:tr>
              <a:tr h="2838781">
                <a:tc>
                  <a:txBody>
                    <a:bodyPr/>
                    <a:lstStyle/>
                    <a:p>
                      <a:pPr>
                        <a:lnSpc>
                          <a:spcPct val="150000"/>
                        </a:lnSpc>
                        <a:spcAft>
                          <a:spcPts val="600"/>
                        </a:spcAft>
                        <a:buNone/>
                      </a:pPr>
                      <a:r>
                        <a:rPr lang="en-US" sz="1800">
                          <a:effectLst/>
                        </a:rPr>
                        <a:t>SDN-Based Distributed Mobility Management for 5G Networks</a:t>
                      </a:r>
                      <a:endParaRPr lang="en-IN" sz="1800">
                        <a:effectLst/>
                      </a:endParaRPr>
                    </a:p>
                    <a:p>
                      <a:pPr>
                        <a:lnSpc>
                          <a:spcPct val="150000"/>
                        </a:lnSpc>
                        <a:spcAft>
                          <a:spcPts val="600"/>
                        </a:spcAft>
                        <a:buNone/>
                      </a:pPr>
                      <a:r>
                        <a:rPr lang="en-US" sz="1800">
                          <a:effectLst/>
                        </a:rPr>
                        <a:t>Eurecom White Paper</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dirty="0">
                          <a:effectLst/>
                        </a:rPr>
                        <a:t>Traditional mobility management lacks scalability and quick adaptability for multiple user types and diverse apps.</a:t>
                      </a:r>
                      <a:endParaRPr lang="en-IN"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dirty="0">
                          <a:effectLst/>
                        </a:rPr>
                        <a:t>SDN and DMM integration, centralized flow management, simulation in cloud-based testbed.</a:t>
                      </a:r>
                      <a:endParaRPr lang="en-IN"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dirty="0">
                          <a:effectLst/>
                        </a:rPr>
                        <a:t>Reduced signaling load, rapid handoff response, scalable to large networks. Successful dynamic handoff management.</a:t>
                      </a:r>
                      <a:endParaRPr lang="en-IN"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1882451068"/>
                  </a:ext>
                </a:extLst>
              </a:tr>
            </a:tbl>
          </a:graphicData>
        </a:graphic>
      </p:graphicFrame>
    </p:spTree>
    <p:extLst>
      <p:ext uri="{BB962C8B-B14F-4D97-AF65-F5344CB8AC3E}">
        <p14:creationId xmlns:p14="http://schemas.microsoft.com/office/powerpoint/2010/main" val="2712850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4EF466D-AE5E-91C8-1F65-3CC6FBCC0E6E}"/>
              </a:ext>
            </a:extLst>
          </p:cNvPr>
          <p:cNvGraphicFramePr>
            <a:graphicFrameLocks noGrp="1"/>
          </p:cNvGraphicFramePr>
          <p:nvPr>
            <p:extLst>
              <p:ext uri="{D42A27DB-BD31-4B8C-83A1-F6EECF244321}">
                <p14:modId xmlns:p14="http://schemas.microsoft.com/office/powerpoint/2010/main" val="91481288"/>
              </p:ext>
            </p:extLst>
          </p:nvPr>
        </p:nvGraphicFramePr>
        <p:xfrm>
          <a:off x="275303" y="255639"/>
          <a:ext cx="11631564" cy="5732206"/>
        </p:xfrm>
        <a:graphic>
          <a:graphicData uri="http://schemas.openxmlformats.org/drawingml/2006/table">
            <a:tbl>
              <a:tblPr firstRow="1" firstCol="1" bandRow="1">
                <a:tableStyleId>{DE7AD339-51BE-4A38-A1C7-CCF28897F289}</a:tableStyleId>
              </a:tblPr>
              <a:tblGrid>
                <a:gridCol w="2907891">
                  <a:extLst>
                    <a:ext uri="{9D8B030D-6E8A-4147-A177-3AD203B41FA5}">
                      <a16:colId xmlns:a16="http://schemas.microsoft.com/office/drawing/2014/main" val="2937037561"/>
                    </a:ext>
                  </a:extLst>
                </a:gridCol>
                <a:gridCol w="2907891">
                  <a:extLst>
                    <a:ext uri="{9D8B030D-6E8A-4147-A177-3AD203B41FA5}">
                      <a16:colId xmlns:a16="http://schemas.microsoft.com/office/drawing/2014/main" val="4127171385"/>
                    </a:ext>
                  </a:extLst>
                </a:gridCol>
                <a:gridCol w="2907891">
                  <a:extLst>
                    <a:ext uri="{9D8B030D-6E8A-4147-A177-3AD203B41FA5}">
                      <a16:colId xmlns:a16="http://schemas.microsoft.com/office/drawing/2014/main" val="312120489"/>
                    </a:ext>
                  </a:extLst>
                </a:gridCol>
                <a:gridCol w="2907891">
                  <a:extLst>
                    <a:ext uri="{9D8B030D-6E8A-4147-A177-3AD203B41FA5}">
                      <a16:colId xmlns:a16="http://schemas.microsoft.com/office/drawing/2014/main" val="688883899"/>
                    </a:ext>
                  </a:extLst>
                </a:gridCol>
              </a:tblGrid>
              <a:tr h="2866103">
                <a:tc>
                  <a:txBody>
                    <a:bodyPr/>
                    <a:lstStyle/>
                    <a:p>
                      <a:pPr>
                        <a:lnSpc>
                          <a:spcPct val="150000"/>
                        </a:lnSpc>
                        <a:spcAft>
                          <a:spcPts val="600"/>
                        </a:spcAft>
                        <a:buNone/>
                      </a:pPr>
                      <a:r>
                        <a:rPr lang="en-US" sz="1800">
                          <a:effectLst/>
                        </a:rPr>
                        <a:t>QOS Aware Vertical Handover Process in Heterogeneous Wireless Networks</a:t>
                      </a:r>
                      <a:endParaRPr lang="en-IN" sz="1800">
                        <a:effectLst/>
                      </a:endParaRPr>
                    </a:p>
                    <a:p>
                      <a:pPr>
                        <a:lnSpc>
                          <a:spcPct val="150000"/>
                        </a:lnSpc>
                        <a:spcAft>
                          <a:spcPts val="600"/>
                        </a:spcAft>
                        <a:buNone/>
                      </a:pPr>
                      <a:r>
                        <a:rPr lang="en-US" sz="1800">
                          <a:effectLst/>
                        </a:rPr>
                        <a:t>Santhi and Prabha, 2023</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a:effectLst/>
                        </a:rPr>
                        <a:t>Vertical handoffs must meet QoS constraints such as delay, jitter, bandwidth, security, and cost.</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a:effectLst/>
                        </a:rPr>
                        <a:t>Combined multiple analytic network process (M-ANP) and TOPSIS for network selection satisfying QoS constraints.</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dirty="0">
                          <a:effectLst/>
                        </a:rPr>
                        <a:t>Enhanced QoS-aware network selection for vertical handoffs, validated through simulation.</a:t>
                      </a:r>
                      <a:endParaRPr lang="en-IN"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3617474454"/>
                  </a:ext>
                </a:extLst>
              </a:tr>
              <a:tr h="2866103">
                <a:tc>
                  <a:txBody>
                    <a:bodyPr/>
                    <a:lstStyle/>
                    <a:p>
                      <a:pPr>
                        <a:lnSpc>
                          <a:spcPct val="150000"/>
                        </a:lnSpc>
                        <a:spcAft>
                          <a:spcPts val="600"/>
                        </a:spcAft>
                        <a:buNone/>
                      </a:pPr>
                      <a:r>
                        <a:rPr lang="en-US" sz="1800">
                          <a:effectLst/>
                        </a:rPr>
                        <a:t>Enhancing QoS Through SDN in Wireless Networks</a:t>
                      </a:r>
                      <a:endParaRPr lang="en-IN" sz="1800">
                        <a:effectLst/>
                      </a:endParaRPr>
                    </a:p>
                    <a:p>
                      <a:pPr>
                        <a:lnSpc>
                          <a:spcPct val="150000"/>
                        </a:lnSpc>
                        <a:spcAft>
                          <a:spcPts val="600"/>
                        </a:spcAft>
                        <a:buNone/>
                      </a:pPr>
                      <a:r>
                        <a:rPr lang="en-US" sz="1800">
                          <a:effectLst/>
                        </a:rPr>
                        <a:t>Ait Oulahyane, 2023</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a:effectLst/>
                        </a:rPr>
                        <a:t>Addressing unreliable access points and dynamic access control to maintain QoS in wireless networks.</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a:effectLst/>
                        </a:rPr>
                        <a:t>Proposed SDN-based secure model for dynamic access control and QoS management. Tested using SDN controllers and real scenarios.</a:t>
                      </a:r>
                      <a:endParaRPr lang="en-IN" sz="1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1800" dirty="0">
                          <a:effectLst/>
                        </a:rPr>
                        <a:t>Improved connection reliability and QoS enforcement in wireless networks through SDN-enabled control.</a:t>
                      </a:r>
                      <a:endParaRPr lang="en-IN"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3536505652"/>
                  </a:ext>
                </a:extLst>
              </a:tr>
            </a:tbl>
          </a:graphicData>
        </a:graphic>
      </p:graphicFrame>
    </p:spTree>
    <p:extLst>
      <p:ext uri="{BB962C8B-B14F-4D97-AF65-F5344CB8AC3E}">
        <p14:creationId xmlns:p14="http://schemas.microsoft.com/office/powerpoint/2010/main" val="3640720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Verdana" panose="020B0604030504040204" pitchFamily="34" charset="0"/>
                <a:ea typeface="Verdana" panose="020B0604030504040204" pitchFamily="34" charset="0"/>
              </a:rPr>
              <a:t>Structural Diagram:</a:t>
            </a: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Block Diagram/Pin Diagram</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7B3FE64C-ED43-A052-11E8-812792B8FDDF}"/>
              </a:ext>
            </a:extLst>
          </p:cNvPr>
          <p:cNvSpPr txBox="1"/>
          <p:nvPr/>
        </p:nvSpPr>
        <p:spPr>
          <a:xfrm>
            <a:off x="496220" y="362499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Behaviour Diagram</a:t>
            </a: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Flow chart/ State machine</a:t>
            </a: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 </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7" name="Picture 6">
            <a:extLst>
              <a:ext uri="{FF2B5EF4-FFF2-40B4-BE49-F238E27FC236}">
                <a16:creationId xmlns:a16="http://schemas.microsoft.com/office/drawing/2014/main" id="{41409A9B-7E90-C271-3756-6AE3322C3AAD}"/>
              </a:ext>
            </a:extLst>
          </p:cNvPr>
          <p:cNvPicPr>
            <a:picLocks noChangeAspect="1"/>
          </p:cNvPicPr>
          <p:nvPr/>
        </p:nvPicPr>
        <p:blipFill>
          <a:blip r:embed="rId2"/>
          <a:stretch>
            <a:fillRect/>
          </a:stretch>
        </p:blipFill>
        <p:spPr>
          <a:xfrm>
            <a:off x="3890379" y="1088924"/>
            <a:ext cx="5558420" cy="2340076"/>
          </a:xfrm>
          <a:prstGeom prst="rect">
            <a:avLst/>
          </a:prstGeom>
        </p:spPr>
      </p:pic>
      <p:pic>
        <p:nvPicPr>
          <p:cNvPr id="9" name="Picture 8">
            <a:extLst>
              <a:ext uri="{FF2B5EF4-FFF2-40B4-BE49-F238E27FC236}">
                <a16:creationId xmlns:a16="http://schemas.microsoft.com/office/drawing/2014/main" id="{8AE56DAD-9181-B074-81F3-7EB7430D4EC5}"/>
              </a:ext>
            </a:extLst>
          </p:cNvPr>
          <p:cNvPicPr>
            <a:picLocks noChangeAspect="1"/>
          </p:cNvPicPr>
          <p:nvPr/>
        </p:nvPicPr>
        <p:blipFill>
          <a:blip r:embed="rId3"/>
          <a:stretch>
            <a:fillRect/>
          </a:stretch>
        </p:blipFill>
        <p:spPr>
          <a:xfrm>
            <a:off x="3890378" y="3925823"/>
            <a:ext cx="5558419" cy="2340075"/>
          </a:xfrm>
          <a:prstGeom prst="rect">
            <a:avLst/>
          </a:prstGeom>
        </p:spPr>
      </p:pic>
    </p:spTree>
    <p:extLst>
      <p:ext uri="{BB962C8B-B14F-4D97-AF65-F5344CB8AC3E}">
        <p14:creationId xmlns:p14="http://schemas.microsoft.com/office/powerpoint/2010/main" val="186946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 &amp; Testing</a:t>
            </a:r>
            <a:endParaRPr lang="en-US" sz="1400" b="0" i="0" u="none" strike="noStrike" cap="none" dirty="0">
              <a:solidFill>
                <a:srgbClr val="000000"/>
              </a:solidFill>
              <a:latin typeface="Arial"/>
              <a:ea typeface="Arial"/>
              <a:cs typeface="Arial"/>
              <a:sym typeface="Arial"/>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412955" y="885584"/>
            <a:ext cx="11299106" cy="4708971"/>
          </a:xfrm>
          <a:prstGeom prst="rect">
            <a:avLst/>
          </a:prstGeom>
          <a:noFill/>
          <a:ln>
            <a:noFill/>
          </a:ln>
        </p:spPr>
        <p:txBody>
          <a:bodyPr spcFirstLastPara="1" wrap="square" lIns="91425" tIns="45700" rIns="91425" bIns="45700" anchor="t" anchorCtr="0">
            <a:noAutofit/>
          </a:bodyPr>
          <a:lstStyle/>
          <a:p>
            <a:pPr algn="just"/>
            <a:r>
              <a:rPr lang="en-IN" sz="2400" b="1" dirty="0"/>
              <a:t>Test Cases:</a:t>
            </a:r>
            <a:endParaRPr lang="en-IN" sz="2400" dirty="0"/>
          </a:p>
          <a:p>
            <a:pPr marL="285750" indent="-285750" algn="just">
              <a:buFont typeface="Arial" panose="020B0604020202020204" pitchFamily="34" charset="0"/>
              <a:buChar char="•"/>
            </a:pPr>
            <a:r>
              <a:rPr lang="en-IN" sz="1600" b="1" dirty="0"/>
              <a:t>Handover Latency Measurement:</a:t>
            </a:r>
            <a:r>
              <a:rPr lang="en-IN" sz="1600" dirty="0"/>
              <a:t> Verify vertical handoff delay (Wi-Fi to LTE/5G) is within acceptable limits (&lt;50 </a:t>
            </a:r>
            <a:r>
              <a:rPr lang="en-IN" sz="1600" dirty="0" err="1"/>
              <a:t>ms</a:t>
            </a:r>
            <a:r>
              <a:rPr lang="en-IN" sz="1600" dirty="0"/>
              <a:t>)</a:t>
            </a:r>
          </a:p>
          <a:p>
            <a:pPr marL="285750" indent="-285750" algn="just">
              <a:buFont typeface="Arial" panose="020B0604020202020204" pitchFamily="34" charset="0"/>
              <a:buChar char="•"/>
            </a:pPr>
            <a:r>
              <a:rPr lang="en-IN" sz="1600" b="1" dirty="0"/>
              <a:t>Packet Loss Assessment:</a:t>
            </a:r>
            <a:r>
              <a:rPr lang="en-IN" sz="1600" dirty="0"/>
              <a:t> Measure packet loss during handoff at different user speeds; target &lt;1% loss</a:t>
            </a:r>
          </a:p>
          <a:p>
            <a:pPr marL="285750" indent="-285750" algn="just">
              <a:buFont typeface="Arial" panose="020B0604020202020204" pitchFamily="34" charset="0"/>
              <a:buChar char="•"/>
            </a:pPr>
            <a:r>
              <a:rPr lang="en-IN" sz="1600" b="1" dirty="0"/>
              <a:t>Throughput Stability:</a:t>
            </a:r>
            <a:r>
              <a:rPr lang="en-IN" sz="1600" dirty="0"/>
              <a:t> Test throughput before, during, and after handoff for consistent QoS</a:t>
            </a:r>
          </a:p>
          <a:p>
            <a:pPr marL="285750" indent="-285750" algn="just">
              <a:buFont typeface="Arial" panose="020B0604020202020204" pitchFamily="34" charset="0"/>
              <a:buChar char="•"/>
            </a:pPr>
            <a:r>
              <a:rPr lang="en-IN" sz="1600" b="1" dirty="0"/>
              <a:t>Handover Trigger Accuracy:</a:t>
            </a:r>
            <a:r>
              <a:rPr lang="en-IN" sz="1600" dirty="0"/>
              <a:t> Verify handoff initiates based on multi-criteria thresholds (RSSI, load, latency)</a:t>
            </a:r>
          </a:p>
          <a:p>
            <a:pPr marL="285750" indent="-285750" algn="just">
              <a:buFont typeface="Arial" panose="020B0604020202020204" pitchFamily="34" charset="0"/>
              <a:buChar char="•"/>
            </a:pPr>
            <a:r>
              <a:rPr lang="en-IN" sz="1600" b="1" dirty="0"/>
              <a:t>Ping-Pong Avoidance:</a:t>
            </a:r>
            <a:r>
              <a:rPr lang="en-IN" sz="1600" dirty="0"/>
              <a:t> Confirm no rapid back-and-forth handovers between same networks</a:t>
            </a:r>
          </a:p>
          <a:p>
            <a:pPr marL="285750" indent="-285750" algn="just">
              <a:buFont typeface="Arial" panose="020B0604020202020204" pitchFamily="34" charset="0"/>
              <a:buChar char="•"/>
            </a:pPr>
            <a:r>
              <a:rPr lang="en-IN" sz="1600" b="1" dirty="0"/>
              <a:t>MIPv6 Address Continuity:</a:t>
            </a:r>
            <a:r>
              <a:rPr lang="en-IN" sz="1600" dirty="0"/>
              <a:t> Validate IP address persistence across network changes</a:t>
            </a:r>
          </a:p>
          <a:p>
            <a:pPr marL="285750" indent="-285750" algn="just">
              <a:buFont typeface="Arial" panose="020B0604020202020204" pitchFamily="34" charset="0"/>
              <a:buChar char="•"/>
            </a:pPr>
            <a:r>
              <a:rPr lang="en-IN" sz="1600" b="1" dirty="0"/>
              <a:t>Load Balancing Effectiveness:</a:t>
            </a:r>
            <a:r>
              <a:rPr lang="en-IN" sz="1600" dirty="0"/>
              <a:t> Ensure handoff distributes users across cells efficiently</a:t>
            </a:r>
          </a:p>
          <a:p>
            <a:pPr marL="285750" indent="-285750" algn="just">
              <a:buFont typeface="Arial" panose="020B0604020202020204" pitchFamily="34" charset="0"/>
              <a:buChar char="•"/>
            </a:pPr>
            <a:r>
              <a:rPr lang="en-IN" sz="1600" b="1" dirty="0"/>
              <a:t>High-Speed Mobility:</a:t>
            </a:r>
            <a:r>
              <a:rPr lang="en-IN" sz="1600" dirty="0"/>
              <a:t> Test reliability at vehicular speeds (&gt;60 km/h)</a:t>
            </a:r>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endParaRPr lang="en-IN" sz="1600" dirty="0"/>
          </a:p>
          <a:p>
            <a:pPr algn="just"/>
            <a:r>
              <a:rPr lang="en-IN" sz="2400" b="1" dirty="0"/>
              <a:t>Use Cases</a:t>
            </a:r>
            <a:endParaRPr lang="en-IN" sz="2400" dirty="0"/>
          </a:p>
          <a:p>
            <a:pPr marL="285750" indent="-285750" algn="just">
              <a:buFont typeface="Arial" panose="020B0604020202020204" pitchFamily="34" charset="0"/>
              <a:buChar char="•"/>
            </a:pPr>
            <a:r>
              <a:rPr lang="en-IN" sz="1600" b="1" dirty="0"/>
              <a:t>Urban Commuter:</a:t>
            </a:r>
            <a:r>
              <a:rPr lang="en-IN" sz="1600" dirty="0"/>
              <a:t> User transitions from home Wi-Fi → Metro LTE → Office Wi-Fi with ongoing video call</a:t>
            </a:r>
          </a:p>
          <a:p>
            <a:pPr marL="285750" indent="-285750" algn="just">
              <a:buFont typeface="Arial" panose="020B0604020202020204" pitchFamily="34" charset="0"/>
              <a:buChar char="•"/>
            </a:pPr>
            <a:r>
              <a:rPr lang="en-IN" sz="1600" b="1" dirty="0"/>
              <a:t>Highway Driver:</a:t>
            </a:r>
            <a:r>
              <a:rPr lang="en-IN" sz="1600" dirty="0"/>
              <a:t> Vehicular handoff across multiple LTE cells maintaining navigation and music streaming</a:t>
            </a:r>
          </a:p>
          <a:p>
            <a:pPr marL="285750" indent="-285750" algn="just">
              <a:buFont typeface="Arial" panose="020B0604020202020204" pitchFamily="34" charset="0"/>
              <a:buChar char="•"/>
            </a:pPr>
            <a:r>
              <a:rPr lang="en-IN" sz="1600" b="1" dirty="0"/>
              <a:t>Dense Stadium Event:</a:t>
            </a:r>
            <a:r>
              <a:rPr lang="en-IN" sz="1600" dirty="0"/>
              <a:t> Mass handoff coordination for 50,000+ users during sports event</a:t>
            </a:r>
          </a:p>
          <a:p>
            <a:pPr marL="285750" indent="-285750" algn="just">
              <a:buFont typeface="Arial" panose="020B0604020202020204" pitchFamily="34" charset="0"/>
              <a:buChar char="•"/>
            </a:pPr>
            <a:r>
              <a:rPr lang="en-IN" sz="1600" b="1" dirty="0"/>
              <a:t>Enterprise Campus:</a:t>
            </a:r>
            <a:r>
              <a:rPr lang="en-IN" sz="1600" dirty="0"/>
              <a:t> Seamless indoor/outdoor Wi-Fi/5G transitions for remote desktop session</a:t>
            </a:r>
          </a:p>
          <a:p>
            <a:pPr marL="285750" indent="-285750" algn="just">
              <a:buFont typeface="Arial" panose="020B0604020202020204" pitchFamily="34" charset="0"/>
              <a:buChar char="•"/>
            </a:pPr>
            <a:r>
              <a:rPr lang="en-IN" sz="1600" b="1" dirty="0"/>
              <a:t>Emergency Services:</a:t>
            </a:r>
            <a:r>
              <a:rPr lang="en-IN" sz="1600" dirty="0"/>
              <a:t> Priority handoff for first responders maintaining mission-critical communications</a:t>
            </a:r>
          </a:p>
        </p:txBody>
      </p:sp>
    </p:spTree>
    <p:extLst>
      <p:ext uri="{BB962C8B-B14F-4D97-AF65-F5344CB8AC3E}">
        <p14:creationId xmlns:p14="http://schemas.microsoft.com/office/powerpoint/2010/main" val="1995428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1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ECA415C5-05E9-EE8C-B516-CAA160872052}"/>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algn="just"/>
            <a:r>
              <a:rPr lang="en-IN" sz="2400" b="1" dirty="0"/>
              <a:t>Iteration 1: Core Module Development</a:t>
            </a:r>
          </a:p>
          <a:p>
            <a:pPr algn="just"/>
            <a:endParaRPr lang="en-IN" sz="2400" dirty="0"/>
          </a:p>
          <a:p>
            <a:pPr algn="just"/>
            <a:r>
              <a:rPr lang="en-IN" sz="1800" b="1" dirty="0"/>
              <a:t>Implementation:</a:t>
            </a:r>
            <a:endParaRPr lang="en-IN" sz="1800" dirty="0"/>
          </a:p>
          <a:p>
            <a:pPr algn="just"/>
            <a:r>
              <a:rPr lang="en-IN" sz="1600" dirty="0"/>
              <a:t>Developed 5 Python modules:</a:t>
            </a:r>
          </a:p>
          <a:p>
            <a:pPr marL="285750" lvl="1" indent="-285750" algn="just">
              <a:buFont typeface="Arial" panose="020B0604020202020204" pitchFamily="34" charset="0"/>
              <a:buChar char="•"/>
            </a:pPr>
            <a:r>
              <a:rPr lang="en-IN" sz="1600" dirty="0"/>
              <a:t>handover_decision_engine.py: Hybrid Fuzzy-TOPSIS with 5 QoS criteria</a:t>
            </a:r>
          </a:p>
          <a:p>
            <a:pPr marL="285750" lvl="1" indent="-285750" algn="just">
              <a:buFont typeface="Arial" panose="020B0604020202020204" pitchFamily="34" charset="0"/>
              <a:buChar char="•"/>
            </a:pPr>
            <a:r>
              <a:rPr lang="en-IN" sz="1600" dirty="0"/>
              <a:t>sdn_controller.py: Mock QoS Aware Handover Controller</a:t>
            </a:r>
          </a:p>
          <a:p>
            <a:pPr marL="285750" lvl="1" indent="-285750" algn="just">
              <a:buFont typeface="Arial" panose="020B0604020202020204" pitchFamily="34" charset="0"/>
              <a:buChar char="•"/>
            </a:pPr>
            <a:r>
              <a:rPr lang="en-IN" sz="1600" dirty="0"/>
              <a:t>mipv6_manager.py: Binding update and address management</a:t>
            </a:r>
          </a:p>
          <a:p>
            <a:pPr marL="285750" lvl="1" indent="-285750" algn="just">
              <a:buFont typeface="Arial" panose="020B0604020202020204" pitchFamily="34" charset="0"/>
              <a:buChar char="•"/>
            </a:pPr>
            <a:r>
              <a:rPr lang="en-IN" sz="1600" dirty="0"/>
              <a:t>integrated_handover_manager.py: Orchestration layer</a:t>
            </a:r>
          </a:p>
          <a:p>
            <a:pPr marL="285750" lvl="1" indent="-285750" algn="just">
              <a:buFont typeface="Arial" panose="020B0604020202020204" pitchFamily="34" charset="0"/>
              <a:buChar char="•"/>
            </a:pPr>
            <a:r>
              <a:rPr lang="en-IN" sz="1600" dirty="0"/>
              <a:t>simulation_framework.py: Mobility scenario generator</a:t>
            </a:r>
          </a:p>
          <a:p>
            <a:pPr marL="285750" lvl="1" indent="-285750" algn="just">
              <a:buFont typeface="Arial" panose="020B0604020202020204" pitchFamily="34" charset="0"/>
              <a:buChar char="•"/>
            </a:pPr>
            <a:endParaRPr lang="en-IN" sz="1600" dirty="0"/>
          </a:p>
          <a:p>
            <a:pPr algn="just"/>
            <a:r>
              <a:rPr lang="en-IN" sz="1800" b="1" dirty="0"/>
              <a:t>Results:</a:t>
            </a:r>
            <a:endParaRPr lang="en-IN" sz="1800" dirty="0"/>
          </a:p>
          <a:p>
            <a:pPr marL="285750" indent="-285750" algn="just">
              <a:buFont typeface="Arial" panose="020B0604020202020204" pitchFamily="34" charset="0"/>
              <a:buChar char="•"/>
            </a:pPr>
            <a:r>
              <a:rPr lang="en-IN" sz="1600" dirty="0"/>
              <a:t>Fuzzy membership functions defined for RSSI (-90 to -40 dBm), bandwidth (1-100 Mbps), latency (10-200 </a:t>
            </a:r>
            <a:r>
              <a:rPr lang="en-IN" sz="1600" dirty="0" err="1"/>
              <a:t>ms</a:t>
            </a:r>
            <a:r>
              <a:rPr lang="en-IN" sz="1600" dirty="0"/>
              <a:t>)</a:t>
            </a:r>
          </a:p>
          <a:p>
            <a:pPr marL="285750" indent="-285750" algn="just">
              <a:buFont typeface="Arial" panose="020B0604020202020204" pitchFamily="34" charset="0"/>
              <a:buChar char="•"/>
            </a:pPr>
            <a:r>
              <a:rPr lang="en-IN" sz="1600" dirty="0"/>
              <a:t>TOPSIS algorithm validated with weighted criteria: RSSI (30%), Bandwidth (25%), Latency (20%), Packet Loss (15%), Cost (10%)</a:t>
            </a:r>
          </a:p>
          <a:p>
            <a:pPr marL="285750" indent="-285750" algn="just">
              <a:buFont typeface="Arial" panose="020B0604020202020204" pitchFamily="34" charset="0"/>
              <a:buChar char="•"/>
            </a:pPr>
            <a:r>
              <a:rPr lang="en-IN" sz="1600" dirty="0"/>
              <a:t>SDN controller mock successfully simulates preparation (resource reservation) and execution phases</a:t>
            </a:r>
          </a:p>
          <a:p>
            <a:pPr marL="285750" indent="-285750" algn="just">
              <a:buFont typeface="Arial" panose="020B0604020202020204" pitchFamily="34" charset="0"/>
              <a:buChar char="•"/>
            </a:pPr>
            <a:r>
              <a:rPr lang="en-IN" sz="1600" dirty="0"/>
              <a:t>MIPv6 manager generates care-of addresses and binding updates</a:t>
            </a:r>
          </a:p>
          <a:p>
            <a:pPr marL="285750" indent="-285750" algn="just">
              <a:buFont typeface="Arial" panose="020B0604020202020204" pitchFamily="34" charset="0"/>
              <a:buChar char="•"/>
            </a:pPr>
            <a:endParaRPr lang="en-IN" sz="1600" dirty="0"/>
          </a:p>
          <a:p>
            <a:pPr algn="just"/>
            <a:r>
              <a:rPr lang="en-IN" sz="1800" b="1" dirty="0"/>
              <a:t>Validation:</a:t>
            </a:r>
            <a:endParaRPr lang="en-IN" sz="1800" dirty="0"/>
          </a:p>
          <a:p>
            <a:pPr marL="285750" indent="-285750" algn="just">
              <a:buFont typeface="Arial" panose="020B0604020202020204" pitchFamily="34" charset="0"/>
              <a:buChar char="•"/>
            </a:pPr>
            <a:r>
              <a:rPr lang="en-IN" sz="1600" dirty="0"/>
              <a:t>Unit tests passed for decision engine with 10 sample network profiles</a:t>
            </a:r>
          </a:p>
          <a:p>
            <a:pPr marL="285750" indent="-285750" algn="just">
              <a:buFont typeface="Arial" panose="020B0604020202020204" pitchFamily="34" charset="0"/>
              <a:buChar char="•"/>
            </a:pPr>
            <a:r>
              <a:rPr lang="en-IN" sz="1600" dirty="0"/>
              <a:t>Controller response time: &lt;5 </a:t>
            </a:r>
            <a:r>
              <a:rPr lang="en-IN" sz="1600" dirty="0" err="1"/>
              <a:t>ms</a:t>
            </a:r>
            <a:r>
              <a:rPr lang="en-IN" sz="1600" dirty="0"/>
              <a:t> for handoff decision</a:t>
            </a:r>
          </a:p>
        </p:txBody>
      </p:sp>
    </p:spTree>
    <p:extLst>
      <p:ext uri="{BB962C8B-B14F-4D97-AF65-F5344CB8AC3E}">
        <p14:creationId xmlns:p14="http://schemas.microsoft.com/office/powerpoint/2010/main" val="2145021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FB4E-AB25-B986-6544-C029606954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2EDE2B-D87B-D03F-3482-F7F114A4F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sp>
        <p:nvSpPr>
          <p:cNvPr id="4" name="Google Shape;125;p3">
            <a:extLst>
              <a:ext uri="{FF2B5EF4-FFF2-40B4-BE49-F238E27FC236}">
                <a16:creationId xmlns:a16="http://schemas.microsoft.com/office/drawing/2014/main" id="{C625E54E-A86D-9B94-B470-0435C69F95E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2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67B823CE-7BA9-D714-A424-29AA44BD6144}"/>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r>
              <a:rPr lang="en-IN" sz="2400" b="1" dirty="0"/>
              <a:t>Iteration 2: Integrated Simulation &amp; QoS Metrics</a:t>
            </a:r>
            <a:endParaRPr lang="en-IN" sz="2400" dirty="0"/>
          </a:p>
          <a:p>
            <a:r>
              <a:rPr lang="en-IN" sz="1800" b="1" dirty="0"/>
              <a:t>Implementation:</a:t>
            </a:r>
            <a:endParaRPr lang="en-IN" sz="1800" dirty="0"/>
          </a:p>
          <a:p>
            <a:pPr marL="285750" indent="-285750">
              <a:buFont typeface="Arial" panose="020B0604020202020204" pitchFamily="34" charset="0"/>
              <a:buChar char="•"/>
            </a:pPr>
            <a:r>
              <a:rPr lang="en-IN" sz="1600" dirty="0"/>
              <a:t>Integrated all modules in Google Colab environment</a:t>
            </a:r>
          </a:p>
          <a:p>
            <a:pPr marL="285750" indent="-285750">
              <a:buFont typeface="Arial" panose="020B0604020202020204" pitchFamily="34" charset="0"/>
              <a:buChar char="•"/>
            </a:pPr>
            <a:r>
              <a:rPr lang="en-IN" sz="1600" dirty="0"/>
              <a:t>Configured 20-handover mobility scenario</a:t>
            </a:r>
          </a:p>
          <a:p>
            <a:pPr marL="285750" indent="-285750" algn="just">
              <a:buFont typeface="Arial" panose="020B0604020202020204" pitchFamily="34" charset="0"/>
              <a:buChar char="•"/>
            </a:pPr>
            <a:r>
              <a:rPr lang="en-IN" sz="1600" dirty="0"/>
              <a:t>Implemented performance metric collection:   	</a:t>
            </a:r>
          </a:p>
          <a:p>
            <a:pPr marL="285750" indent="-285750" algn="just">
              <a:buFont typeface="Courier New" panose="02070309020205020404" pitchFamily="49" charset="0"/>
              <a:buChar char="o"/>
            </a:pPr>
            <a:r>
              <a:rPr lang="en-IN" sz="1600" dirty="0"/>
              <a:t>Handover latency tracking</a:t>
            </a:r>
          </a:p>
          <a:p>
            <a:pPr marL="285750" lvl="1" indent="-285750" algn="just">
              <a:buFont typeface="Courier New" panose="02070309020205020404" pitchFamily="49" charset="0"/>
              <a:buChar char="o"/>
            </a:pPr>
            <a:r>
              <a:rPr lang="en-IN" sz="1600" dirty="0"/>
              <a:t>Packet loss monitoring</a:t>
            </a:r>
          </a:p>
          <a:p>
            <a:pPr marL="285750" lvl="1" indent="-285750" algn="just">
              <a:buFont typeface="Courier New" panose="02070309020205020404" pitchFamily="49" charset="0"/>
              <a:buChar char="o"/>
            </a:pPr>
            <a:r>
              <a:rPr lang="en-IN" sz="1600" dirty="0"/>
              <a:t>Ping-pong event detection</a:t>
            </a:r>
          </a:p>
          <a:p>
            <a:pPr marL="285750" indent="-285750">
              <a:buFont typeface="Arial" panose="020B0604020202020204" pitchFamily="34" charset="0"/>
              <a:buChar char="•"/>
            </a:pPr>
            <a:r>
              <a:rPr lang="en-IN" sz="1600" dirty="0"/>
              <a:t>Generated visualization outputs (4 plots + CSV export)</a:t>
            </a:r>
          </a:p>
          <a:p>
            <a:endParaRPr lang="en-IN" sz="1600" dirty="0"/>
          </a:p>
          <a:p>
            <a:r>
              <a:rPr lang="en-IN" sz="1800" b="1" dirty="0"/>
              <a:t>Results:</a:t>
            </a:r>
          </a:p>
          <a:p>
            <a:endParaRPr lang="en-IN" sz="2400" b="1" dirty="0"/>
          </a:p>
          <a:p>
            <a:pPr marL="285750" indent="-285750">
              <a:buFont typeface="Arial" panose="020B0604020202020204" pitchFamily="34" charset="0"/>
              <a:buChar char="•"/>
            </a:pPr>
            <a:r>
              <a:rPr lang="en-IN" sz="1600" dirty="0"/>
              <a:t>Average handover latency: </a:t>
            </a:r>
            <a:r>
              <a:rPr lang="en-IN" sz="1600" b="1" dirty="0"/>
              <a:t>10.2 </a:t>
            </a:r>
            <a:r>
              <a:rPr lang="en-IN" sz="1600" b="1" dirty="0" err="1"/>
              <a:t>ms</a:t>
            </a:r>
            <a:r>
              <a:rPr lang="en-IN" sz="1600" dirty="0"/>
              <a:t> (well below 50 </a:t>
            </a:r>
            <a:r>
              <a:rPr lang="en-IN" sz="1600" dirty="0" err="1"/>
              <a:t>ms</a:t>
            </a:r>
            <a:r>
              <a:rPr lang="en-IN" sz="1600" dirty="0"/>
              <a:t> target)</a:t>
            </a:r>
          </a:p>
          <a:p>
            <a:pPr marL="285750" indent="-285750">
              <a:buFont typeface="Arial" panose="020B0604020202020204" pitchFamily="34" charset="0"/>
              <a:buChar char="•"/>
            </a:pPr>
            <a:r>
              <a:rPr lang="en-IN" sz="1600" dirty="0"/>
              <a:t>Completed </a:t>
            </a:r>
            <a:r>
              <a:rPr lang="en-IN" sz="1600" b="1" dirty="0"/>
              <a:t>8 handovers</a:t>
            </a:r>
            <a:r>
              <a:rPr lang="en-IN" sz="1600" dirty="0"/>
              <a:t> with </a:t>
            </a:r>
            <a:r>
              <a:rPr lang="en-IN" sz="1600" b="1" dirty="0"/>
              <a:t>zero ping-pong</a:t>
            </a:r>
            <a:r>
              <a:rPr lang="en-IN" sz="1600" dirty="0"/>
              <a:t> events</a:t>
            </a:r>
          </a:p>
          <a:p>
            <a:pPr marL="285750" indent="-285750">
              <a:buFont typeface="Arial" panose="020B0604020202020204" pitchFamily="34" charset="0"/>
              <a:buChar char="•"/>
            </a:pPr>
            <a:r>
              <a:rPr lang="en-IN" sz="1600" dirty="0"/>
              <a:t>Packet loss during handoff: </a:t>
            </a:r>
            <a:r>
              <a:rPr lang="en-IN" sz="1600" b="1" dirty="0"/>
              <a:t>&lt;0.5%</a:t>
            </a:r>
            <a:endParaRPr lang="en-IN" sz="1600" dirty="0"/>
          </a:p>
          <a:p>
            <a:pPr marL="285750" indent="-285750">
              <a:buFont typeface="Arial" panose="020B0604020202020204" pitchFamily="34" charset="0"/>
              <a:buChar char="•"/>
            </a:pPr>
            <a:r>
              <a:rPr lang="en-IN" sz="1600" dirty="0"/>
              <a:t>MIPv6 maintained address continuity in all handovers</a:t>
            </a:r>
          </a:p>
          <a:p>
            <a:pPr marL="285750" indent="-285750">
              <a:buFont typeface="Arial" panose="020B0604020202020204" pitchFamily="34" charset="0"/>
              <a:buChar char="•"/>
            </a:pPr>
            <a:r>
              <a:rPr lang="en-IN" sz="1600" dirty="0"/>
              <a:t>Validated key test cases on latency, packet loss, and ping-pong avoidance</a:t>
            </a:r>
          </a:p>
          <a:p>
            <a:pPr marL="285750" indent="-285750">
              <a:buFont typeface="Arial" panose="020B0604020202020204" pitchFamily="34" charset="0"/>
              <a:buChar char="•"/>
            </a:pPr>
            <a:r>
              <a:rPr lang="en-IN" sz="1600" dirty="0"/>
              <a:t>Outputs include latency plots, packet loss graphs, and handover_results.csv data</a:t>
            </a:r>
          </a:p>
          <a:p>
            <a:endParaRPr lang="en-IN" sz="1600" dirty="0"/>
          </a:p>
        </p:txBody>
      </p:sp>
    </p:spTree>
    <p:extLst>
      <p:ext uri="{BB962C8B-B14F-4D97-AF65-F5344CB8AC3E}">
        <p14:creationId xmlns:p14="http://schemas.microsoft.com/office/powerpoint/2010/main" val="2761468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5F51-F37A-0F0B-AFF4-2134BDC030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0440EB-4A8A-D93C-606D-594A9C00C6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
        <p:nvSpPr>
          <p:cNvPr id="4" name="Google Shape;125;p3">
            <a:extLst>
              <a:ext uri="{FF2B5EF4-FFF2-40B4-BE49-F238E27FC236}">
                <a16:creationId xmlns:a16="http://schemas.microsoft.com/office/drawing/2014/main" id="{6E899E6C-558C-950D-AACE-666F4910120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a:t>
            </a:r>
            <a:r>
              <a:rPr lang="en-US" sz="2400" b="1" dirty="0">
                <a:latin typeface="Montserrat"/>
                <a:ea typeface="Montserrat"/>
                <a:cs typeface="Montserrat"/>
                <a:sym typeface="Montserrat"/>
              </a:rPr>
              <a:t>3 (Optional)</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935777F9-D82A-2939-0C57-126FBC7D4C26}"/>
              </a:ext>
            </a:extLst>
          </p:cNvPr>
          <p:cNvSpPr txBox="1"/>
          <p:nvPr/>
        </p:nvSpPr>
        <p:spPr>
          <a:xfrm>
            <a:off x="594543" y="726132"/>
            <a:ext cx="11326761" cy="5735761"/>
          </a:xfrm>
          <a:prstGeom prst="rect">
            <a:avLst/>
          </a:prstGeom>
          <a:noFill/>
          <a:ln>
            <a:noFill/>
          </a:ln>
        </p:spPr>
        <p:txBody>
          <a:bodyPr spcFirstLastPara="1" wrap="square" lIns="91425" tIns="45700" rIns="91425" bIns="45700" anchor="t" anchorCtr="0">
            <a:noAutofit/>
          </a:bodyPr>
          <a:lstStyle/>
          <a:p>
            <a:pPr lvl="0"/>
            <a:r>
              <a:rPr lang="en-IN" sz="2400" b="1" dirty="0"/>
              <a:t>Iteration 3:Graphs and Comparisons from Existing Models</a:t>
            </a:r>
            <a:endParaRPr lang="en-IN" sz="2400"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sz="2400" dirty="0">
              <a:latin typeface="Verdana" panose="020B0604030504040204" pitchFamily="34" charset="0"/>
              <a:ea typeface="Verdana" panose="020B0604030504040204" pitchFamily="34" charset="0"/>
            </a:endParaRPr>
          </a:p>
        </p:txBody>
      </p:sp>
      <p:pic>
        <p:nvPicPr>
          <p:cNvPr id="6" name="Picture 5">
            <a:extLst>
              <a:ext uri="{FF2B5EF4-FFF2-40B4-BE49-F238E27FC236}">
                <a16:creationId xmlns:a16="http://schemas.microsoft.com/office/drawing/2014/main" id="{EB62BDE4-6004-6E6C-57B8-134577E45908}"/>
              </a:ext>
            </a:extLst>
          </p:cNvPr>
          <p:cNvPicPr>
            <a:picLocks noChangeAspect="1"/>
          </p:cNvPicPr>
          <p:nvPr/>
        </p:nvPicPr>
        <p:blipFill>
          <a:blip r:embed="rId2"/>
          <a:stretch>
            <a:fillRect/>
          </a:stretch>
        </p:blipFill>
        <p:spPr>
          <a:xfrm>
            <a:off x="1150373" y="1356852"/>
            <a:ext cx="9409471" cy="4483509"/>
          </a:xfrm>
          <a:prstGeom prst="rect">
            <a:avLst/>
          </a:prstGeom>
        </p:spPr>
      </p:pic>
    </p:spTree>
    <p:extLst>
      <p:ext uri="{BB962C8B-B14F-4D97-AF65-F5344CB8AC3E}">
        <p14:creationId xmlns:p14="http://schemas.microsoft.com/office/powerpoint/2010/main" val="3238600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F03C1-EDFC-B420-0A1B-283CB9308B8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3B892AF-C8A6-E12A-C09A-814A185EDD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sp>
        <p:nvSpPr>
          <p:cNvPr id="4" name="Google Shape;125;p3">
            <a:extLst>
              <a:ext uri="{FF2B5EF4-FFF2-40B4-BE49-F238E27FC236}">
                <a16:creationId xmlns:a16="http://schemas.microsoft.com/office/drawing/2014/main" id="{80A92AB7-61A3-DEE6-9F46-6C6A4C0DB274}"/>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a:t>
            </a:r>
            <a:r>
              <a:rPr lang="en-US" sz="2400" b="1" dirty="0">
                <a:latin typeface="Montserrat"/>
                <a:ea typeface="Montserrat"/>
                <a:cs typeface="Montserrat"/>
                <a:sym typeface="Montserrat"/>
              </a:rPr>
              <a:t>3 (Optional)</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797C42F-0A90-71FF-1F1F-9B9AD0289537}"/>
              </a:ext>
            </a:extLst>
          </p:cNvPr>
          <p:cNvSpPr txBox="1"/>
          <p:nvPr/>
        </p:nvSpPr>
        <p:spPr>
          <a:xfrm>
            <a:off x="594543" y="726132"/>
            <a:ext cx="11326761" cy="5735761"/>
          </a:xfrm>
          <a:prstGeom prst="rect">
            <a:avLst/>
          </a:prstGeom>
          <a:noFill/>
          <a:ln>
            <a:noFill/>
          </a:ln>
        </p:spPr>
        <p:txBody>
          <a:bodyPr spcFirstLastPara="1" wrap="square" lIns="91425" tIns="45700" rIns="91425" bIns="45700" anchor="t" anchorCtr="0">
            <a:noAutofit/>
          </a:bodyPr>
          <a:lstStyle/>
          <a:p>
            <a:pPr lvl="0"/>
            <a:r>
              <a:rPr lang="en-IN" sz="2400" b="1" dirty="0"/>
              <a:t>Iteration 3:Graphs and Comparisons from Existing Models</a:t>
            </a:r>
            <a:endParaRPr lang="en-IN" sz="2400"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sz="2400" dirty="0">
              <a:latin typeface="Verdana" panose="020B0604030504040204" pitchFamily="34" charset="0"/>
              <a:ea typeface="Verdana" panose="020B0604030504040204" pitchFamily="34" charset="0"/>
            </a:endParaRPr>
          </a:p>
        </p:txBody>
      </p:sp>
      <p:graphicFrame>
        <p:nvGraphicFramePr>
          <p:cNvPr id="2" name="Table 1">
            <a:extLst>
              <a:ext uri="{FF2B5EF4-FFF2-40B4-BE49-F238E27FC236}">
                <a16:creationId xmlns:a16="http://schemas.microsoft.com/office/drawing/2014/main" id="{C59D80A6-0F50-A4DC-DFB0-B2175473A0CC}"/>
              </a:ext>
            </a:extLst>
          </p:cNvPr>
          <p:cNvGraphicFramePr>
            <a:graphicFrameLocks noGrp="1"/>
          </p:cNvGraphicFramePr>
          <p:nvPr>
            <p:extLst>
              <p:ext uri="{D42A27DB-BD31-4B8C-83A1-F6EECF244321}">
                <p14:modId xmlns:p14="http://schemas.microsoft.com/office/powerpoint/2010/main" val="1982656486"/>
              </p:ext>
            </p:extLst>
          </p:nvPr>
        </p:nvGraphicFramePr>
        <p:xfrm>
          <a:off x="688258" y="1327355"/>
          <a:ext cx="11233044" cy="4355688"/>
        </p:xfrm>
        <a:graphic>
          <a:graphicData uri="http://schemas.openxmlformats.org/drawingml/2006/table">
            <a:tbl>
              <a:tblPr/>
              <a:tblGrid>
                <a:gridCol w="3744348">
                  <a:extLst>
                    <a:ext uri="{9D8B030D-6E8A-4147-A177-3AD203B41FA5}">
                      <a16:colId xmlns:a16="http://schemas.microsoft.com/office/drawing/2014/main" val="2392043857"/>
                    </a:ext>
                  </a:extLst>
                </a:gridCol>
                <a:gridCol w="3744348">
                  <a:extLst>
                    <a:ext uri="{9D8B030D-6E8A-4147-A177-3AD203B41FA5}">
                      <a16:colId xmlns:a16="http://schemas.microsoft.com/office/drawing/2014/main" val="956901328"/>
                    </a:ext>
                  </a:extLst>
                </a:gridCol>
                <a:gridCol w="3744348">
                  <a:extLst>
                    <a:ext uri="{9D8B030D-6E8A-4147-A177-3AD203B41FA5}">
                      <a16:colId xmlns:a16="http://schemas.microsoft.com/office/drawing/2014/main" val="4175275836"/>
                    </a:ext>
                  </a:extLst>
                </a:gridCol>
              </a:tblGrid>
              <a:tr h="544461">
                <a:tc>
                  <a:txBody>
                    <a:bodyPr/>
                    <a:lstStyle/>
                    <a:p>
                      <a:pPr algn="l">
                        <a:buNone/>
                      </a:pPr>
                      <a:r>
                        <a:rPr lang="en-IN" b="1" dirty="0">
                          <a:effectLst/>
                        </a:rPr>
                        <a:t>Aspect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dirty="0">
                          <a:effectLst/>
                        </a:rPr>
                        <a:t>Base Paper (Khan et al.)</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a:effectLst/>
                        </a:rPr>
                        <a:t>Our Implementation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444493948"/>
                  </a:ext>
                </a:extLst>
              </a:tr>
              <a:tr h="544461">
                <a:tc>
                  <a:txBody>
                    <a:bodyPr/>
                    <a:lstStyle/>
                    <a:p>
                      <a:pPr algn="l">
                        <a:buNone/>
                      </a:pPr>
                      <a:r>
                        <a:rPr lang="en-IN">
                          <a:effectLst/>
                        </a:rPr>
                        <a:t>Decision Algorithm</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dirty="0">
                          <a:effectLst/>
                        </a:rPr>
                        <a:t>Linear Programming (LP)</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Hybrid Fuzzy-TOPSIS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360211719"/>
                  </a:ext>
                </a:extLst>
              </a:tr>
              <a:tr h="544461">
                <a:tc>
                  <a:txBody>
                    <a:bodyPr/>
                    <a:lstStyle/>
                    <a:p>
                      <a:pPr algn="l">
                        <a:buNone/>
                      </a:pPr>
                      <a:r>
                        <a:rPr lang="en-IN" dirty="0">
                          <a:effectLst/>
                        </a:rPr>
                        <a:t>Handover Reduction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39% fewer handovers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a:effectLst/>
                        </a:rPr>
                        <a:t>0 ping-pong events (100% avoidance)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08710934"/>
                  </a:ext>
                </a:extLst>
              </a:tr>
              <a:tr h="544461">
                <a:tc>
                  <a:txBody>
                    <a:bodyPr/>
                    <a:lstStyle/>
                    <a:p>
                      <a:pPr algn="l">
                        <a:buNone/>
                      </a:pPr>
                      <a:r>
                        <a:rPr lang="en-IN" dirty="0">
                          <a:effectLst/>
                        </a:rPr>
                        <a:t>Latency Measurement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Not explicitly measured</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dirty="0">
                          <a:effectLst/>
                        </a:rPr>
                        <a:t>10.2 </a:t>
                      </a:r>
                      <a:r>
                        <a:rPr lang="en-IN" dirty="0" err="1">
                          <a:effectLst/>
                        </a:rPr>
                        <a:t>ms</a:t>
                      </a:r>
                      <a:r>
                        <a:rPr lang="en-IN" dirty="0">
                          <a:effectLst/>
                        </a:rPr>
                        <a:t> average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59536901"/>
                  </a:ext>
                </a:extLst>
              </a:tr>
              <a:tr h="544461">
                <a:tc>
                  <a:txBody>
                    <a:bodyPr/>
                    <a:lstStyle/>
                    <a:p>
                      <a:pPr algn="l">
                        <a:buNone/>
                      </a:pPr>
                      <a:r>
                        <a:rPr lang="en-IN">
                          <a:effectLst/>
                        </a:rPr>
                        <a:t>MIPv6 Integration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Not implemented</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Fully integrated</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890729842"/>
                  </a:ext>
                </a:extLst>
              </a:tr>
              <a:tr h="544461">
                <a:tc>
                  <a:txBody>
                    <a:bodyPr/>
                    <a:lstStyle/>
                    <a:p>
                      <a:pPr algn="l">
                        <a:buNone/>
                      </a:pPr>
                      <a:r>
                        <a:rPr lang="en-IN">
                          <a:effectLst/>
                        </a:rPr>
                        <a:t>Uncertainty Handling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Deterministic weights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Fuzzy membership functions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599277082"/>
                  </a:ext>
                </a:extLst>
              </a:tr>
              <a:tr h="544461">
                <a:tc>
                  <a:txBody>
                    <a:bodyPr/>
                    <a:lstStyle/>
                    <a:p>
                      <a:pPr algn="l">
                        <a:buNone/>
                      </a:pPr>
                      <a:r>
                        <a:rPr lang="en-IN">
                          <a:effectLst/>
                        </a:rPr>
                        <a:t>Simulation Platform</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Unspecified simulator</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Google Colab (reproducible)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22255968"/>
                  </a:ext>
                </a:extLst>
              </a:tr>
              <a:tr h="544461">
                <a:tc>
                  <a:txBody>
                    <a:bodyPr/>
                    <a:lstStyle/>
                    <a:p>
                      <a:pPr algn="l">
                        <a:buNone/>
                      </a:pPr>
                      <a:r>
                        <a:rPr lang="en-IN">
                          <a:effectLst/>
                        </a:rPr>
                        <a:t>QoS Metrics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Throughput, handover count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dirty="0">
                          <a:effectLst/>
                        </a:rPr>
                        <a:t>Latency, packet loss, ping-pong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825214851"/>
                  </a:ext>
                </a:extLst>
              </a:tr>
            </a:tbl>
          </a:graphicData>
        </a:graphic>
      </p:graphicFrame>
    </p:spTree>
    <p:extLst>
      <p:ext uri="{BB962C8B-B14F-4D97-AF65-F5344CB8AC3E}">
        <p14:creationId xmlns:p14="http://schemas.microsoft.com/office/powerpoint/2010/main" val="1834560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459351" y="235520"/>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800" b="1" i="0" u="sng" strike="noStrike" cap="none" dirty="0">
                <a:solidFill>
                  <a:srgbClr val="000000"/>
                </a:solidFill>
                <a:latin typeface="Arial"/>
                <a:ea typeface="Arial"/>
                <a:cs typeface="Arial"/>
                <a:sym typeface="Arial"/>
              </a:rPr>
              <a:t>Novelty (what’s new in our work?)</a:t>
            </a:r>
          </a:p>
        </p:txBody>
      </p:sp>
      <p:sp>
        <p:nvSpPr>
          <p:cNvPr id="2" name="TextBox 1">
            <a:extLst>
              <a:ext uri="{FF2B5EF4-FFF2-40B4-BE49-F238E27FC236}">
                <a16:creationId xmlns:a16="http://schemas.microsoft.com/office/drawing/2014/main" id="{90707A3C-B11D-214A-ACCC-A968C9D4609E}"/>
              </a:ext>
            </a:extLst>
          </p:cNvPr>
          <p:cNvSpPr txBox="1"/>
          <p:nvPr/>
        </p:nvSpPr>
        <p:spPr>
          <a:xfrm>
            <a:off x="324464" y="845175"/>
            <a:ext cx="11543071" cy="4816703"/>
          </a:xfrm>
          <a:prstGeom prst="rect">
            <a:avLst/>
          </a:prstGeom>
          <a:noFill/>
        </p:spPr>
        <p:txBody>
          <a:bodyPr wrap="square" rtlCol="0">
            <a:spAutoFit/>
          </a:bodyPr>
          <a:lstStyle/>
          <a:p>
            <a:r>
              <a:rPr lang="en-IN" sz="2400" b="1" dirty="0"/>
              <a:t>Novelty of our Work</a:t>
            </a:r>
            <a:endParaRPr lang="en-IN" sz="1600" b="1" dirty="0"/>
          </a:p>
          <a:p>
            <a:endParaRPr lang="en-IN" b="1" dirty="0"/>
          </a:p>
          <a:p>
            <a:r>
              <a:rPr lang="en-IN" sz="1800" b="1" dirty="0"/>
              <a:t>1. SDN-MIPv6 Integration</a:t>
            </a:r>
            <a:endParaRPr lang="en-IN" sz="1800" dirty="0"/>
          </a:p>
          <a:p>
            <a:pPr marL="285750" indent="-285750">
              <a:buFont typeface="Arial" panose="020B0604020202020204" pitchFamily="34" charset="0"/>
              <a:buChar char="•"/>
            </a:pPr>
            <a:r>
              <a:rPr lang="en-IN" sz="1600" dirty="0"/>
              <a:t>Combines centralized SDN control with MIPv6 for seamless handoffs across heterogeneous networks</a:t>
            </a:r>
          </a:p>
          <a:p>
            <a:pPr marL="285750" indent="-285750">
              <a:buFont typeface="Arial" panose="020B0604020202020204" pitchFamily="34" charset="0"/>
              <a:buChar char="•"/>
            </a:pPr>
            <a:r>
              <a:rPr lang="en-IN" sz="1600" dirty="0"/>
              <a:t>Maintains IP and session continuity (not in base paper)</a:t>
            </a:r>
          </a:p>
          <a:p>
            <a:r>
              <a:rPr lang="en-IN" sz="1800" b="1" dirty="0"/>
              <a:t>2. Hybrid Fuzzy-TOPSIS Decision Algorithm</a:t>
            </a:r>
            <a:endParaRPr lang="en-IN" sz="1800" dirty="0"/>
          </a:p>
          <a:p>
            <a:pPr marL="285750" indent="-285750">
              <a:buFont typeface="Arial" panose="020B0604020202020204" pitchFamily="34" charset="0"/>
              <a:buChar char="•"/>
            </a:pPr>
            <a:r>
              <a:rPr lang="en-IN" sz="1600" dirty="0"/>
              <a:t>Handles network uncertainty via fuzzy logic + TOPSIS ranking</a:t>
            </a:r>
          </a:p>
          <a:p>
            <a:pPr marL="285750" indent="-285750">
              <a:buFont typeface="Arial" panose="020B0604020202020204" pitchFamily="34" charset="0"/>
              <a:buChar char="•"/>
            </a:pPr>
            <a:r>
              <a:rPr lang="en-IN" sz="1600" dirty="0"/>
              <a:t>Uses 5 weighted QoS criteria, outperforms linear programming approach</a:t>
            </a:r>
          </a:p>
          <a:p>
            <a:r>
              <a:rPr lang="en-IN" sz="1800" b="1" dirty="0"/>
              <a:t>3. Dynamic SDN-Based Mobility Management</a:t>
            </a:r>
            <a:endParaRPr lang="en-IN" sz="1800" dirty="0"/>
          </a:p>
          <a:p>
            <a:pPr marL="285750" indent="-285750">
              <a:buFont typeface="Arial" panose="020B0604020202020204" pitchFamily="34" charset="0"/>
              <a:buChar char="•"/>
            </a:pPr>
            <a:r>
              <a:rPr lang="en-IN" sz="1600" dirty="0"/>
              <a:t>Intelligent traffic engineering with global network view</a:t>
            </a:r>
          </a:p>
          <a:p>
            <a:pPr marL="285750" indent="-285750">
              <a:buFont typeface="Arial" panose="020B0604020202020204" pitchFamily="34" charset="0"/>
              <a:buChar char="•"/>
            </a:pPr>
            <a:r>
              <a:rPr lang="en-IN" sz="1600" dirty="0"/>
              <a:t>Achieved zero ping-pong events, reduced signalling overhead</a:t>
            </a:r>
          </a:p>
          <a:p>
            <a:r>
              <a:rPr lang="en-IN" sz="1800" b="1" dirty="0"/>
              <a:t>4. Quantitative QoS Validation</a:t>
            </a:r>
            <a:endParaRPr lang="en-IN" sz="1800" dirty="0"/>
          </a:p>
          <a:p>
            <a:pPr marL="285750" indent="-285750">
              <a:buFont typeface="Arial" panose="020B0604020202020204" pitchFamily="34" charset="0"/>
              <a:buChar char="•"/>
            </a:pPr>
            <a:r>
              <a:rPr lang="en-IN" sz="1600" dirty="0"/>
              <a:t>Measured: </a:t>
            </a:r>
            <a:r>
              <a:rPr lang="en-IN" sz="1600" b="1" dirty="0"/>
              <a:t>10.2 </a:t>
            </a:r>
            <a:r>
              <a:rPr lang="en-IN" sz="1600" b="1" dirty="0" err="1"/>
              <a:t>ms</a:t>
            </a:r>
            <a:r>
              <a:rPr lang="en-IN" sz="1600" b="1" dirty="0"/>
              <a:t> latency</a:t>
            </a:r>
            <a:r>
              <a:rPr lang="en-IN" sz="1600" dirty="0"/>
              <a:t>, </a:t>
            </a:r>
            <a:r>
              <a:rPr lang="en-IN" sz="1600" b="1" dirty="0"/>
              <a:t>zero ping-pong</a:t>
            </a:r>
            <a:r>
              <a:rPr lang="en-IN" sz="1600" dirty="0"/>
              <a:t>, </a:t>
            </a:r>
            <a:r>
              <a:rPr lang="en-IN" sz="1600" b="1" dirty="0"/>
              <a:t>&lt;0.5% packet loss</a:t>
            </a:r>
            <a:endParaRPr lang="en-IN" sz="1600" dirty="0"/>
          </a:p>
          <a:p>
            <a:pPr marL="285750" indent="-285750">
              <a:buFont typeface="Arial" panose="020B0604020202020204" pitchFamily="34" charset="0"/>
              <a:buChar char="•"/>
            </a:pPr>
            <a:r>
              <a:rPr lang="en-IN" sz="1600" dirty="0"/>
              <a:t>Reproducible Python/Colab implementation</a:t>
            </a:r>
          </a:p>
          <a:p>
            <a:r>
              <a:rPr lang="en-IN" sz="1800" b="1" dirty="0"/>
              <a:t>5. AI-Ready Architecture</a:t>
            </a:r>
            <a:endParaRPr lang="en-IN" sz="1800" dirty="0"/>
          </a:p>
          <a:p>
            <a:pPr marL="285750" indent="-285750">
              <a:buFont typeface="Arial" panose="020B0604020202020204" pitchFamily="34" charset="0"/>
              <a:buChar char="•"/>
            </a:pPr>
            <a:r>
              <a:rPr lang="en-IN" sz="1600" dirty="0"/>
              <a:t>Modular design supports ML integration for predictive handoff</a:t>
            </a:r>
          </a:p>
          <a:p>
            <a:pPr marL="285750" indent="-285750">
              <a:buFont typeface="Arial" panose="020B0604020202020204" pitchFamily="34" charset="0"/>
              <a:buChar char="•"/>
            </a:pPr>
            <a:r>
              <a:rPr lang="en-IN" sz="1600" dirty="0"/>
              <a:t>Foundation for next-generation 6G mobility optimization</a:t>
            </a:r>
          </a:p>
          <a:p>
            <a:endParaRPr lang="en-IN" sz="1900" dirty="0"/>
          </a:p>
        </p:txBody>
      </p:sp>
    </p:spTree>
    <p:extLst>
      <p:ext uri="{BB962C8B-B14F-4D97-AF65-F5344CB8AC3E}">
        <p14:creationId xmlns:p14="http://schemas.microsoft.com/office/powerpoint/2010/main" val="1229190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3200" b="1" i="0" u="sng" strike="noStrike" cap="none" dirty="0">
                <a:solidFill>
                  <a:srgbClr val="000000"/>
                </a:solidFill>
                <a:latin typeface="Montserrat"/>
                <a:ea typeface="Montserrat"/>
                <a:cs typeface="Montserrat"/>
                <a:sym typeface="Montserrat"/>
              </a:rPr>
              <a:t>Conclusion &amp; Future Work</a:t>
            </a:r>
            <a:endParaRPr lang="en-US" sz="3200" b="0" i="0" u="sng"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2EEE738A-8C94-DC4F-503F-AA2419BA06E0}"/>
              </a:ext>
            </a:extLst>
          </p:cNvPr>
          <p:cNvSpPr txBox="1"/>
          <p:nvPr/>
        </p:nvSpPr>
        <p:spPr>
          <a:xfrm>
            <a:off x="534783" y="963562"/>
            <a:ext cx="11122433" cy="4462760"/>
          </a:xfrm>
          <a:prstGeom prst="rect">
            <a:avLst/>
          </a:prstGeom>
          <a:noFill/>
        </p:spPr>
        <p:txBody>
          <a:bodyPr wrap="square" rtlCol="0">
            <a:spAutoFit/>
          </a:bodyPr>
          <a:lstStyle/>
          <a:p>
            <a:r>
              <a:rPr lang="en-IN" sz="2000" b="1" dirty="0"/>
              <a:t>Summary:</a:t>
            </a:r>
          </a:p>
          <a:p>
            <a:pPr marL="342900" indent="-342900" algn="just">
              <a:buFont typeface="Arial" panose="020B0604020202020204" pitchFamily="34" charset="0"/>
              <a:buChar char="•"/>
            </a:pPr>
            <a:endParaRPr lang="en-IN" sz="2000" dirty="0"/>
          </a:p>
          <a:p>
            <a:pPr marL="285750" indent="-285750" algn="just">
              <a:buFont typeface="Arial" panose="020B0604020202020204" pitchFamily="34" charset="0"/>
              <a:buChar char="•"/>
            </a:pPr>
            <a:r>
              <a:rPr lang="en-IN" sz="1600" dirty="0"/>
              <a:t>Designed and implemented an integrated QoS-aware vertical handoff framework combining SDN-based centralized control, hybrid Fuzzy-TOPSIS decision engine, and MIPv6 mobility management.</a:t>
            </a:r>
          </a:p>
          <a:p>
            <a:pPr marL="285750" indent="-285750" algn="just">
              <a:buFont typeface="Arial" panose="020B0604020202020204" pitchFamily="34" charset="0"/>
              <a:buChar char="•"/>
            </a:pPr>
            <a:r>
              <a:rPr lang="en-IN" sz="1600" dirty="0"/>
              <a:t>Successfully validated through Python/Google Colab simulation achieving </a:t>
            </a:r>
            <a:r>
              <a:rPr lang="en-IN" sz="1600" b="1" dirty="0"/>
              <a:t>10.2 </a:t>
            </a:r>
            <a:r>
              <a:rPr lang="en-IN" sz="1600" b="1" dirty="0" err="1"/>
              <a:t>ms</a:t>
            </a:r>
            <a:r>
              <a:rPr lang="en-IN" sz="1600" b="1" dirty="0"/>
              <a:t> average handover latency</a:t>
            </a:r>
            <a:r>
              <a:rPr lang="en-IN" sz="1600" dirty="0"/>
              <a:t>, </a:t>
            </a:r>
            <a:r>
              <a:rPr lang="en-IN" sz="1600" b="1" dirty="0"/>
              <a:t>zero ping-pong events</a:t>
            </a:r>
            <a:r>
              <a:rPr lang="en-IN" sz="1600" dirty="0"/>
              <a:t>, and </a:t>
            </a:r>
            <a:r>
              <a:rPr lang="en-IN" sz="1600" b="1" dirty="0"/>
              <a:t>&lt;0.5% packet loss</a:t>
            </a:r>
            <a:r>
              <a:rPr lang="en-IN" sz="1600" dirty="0"/>
              <a:t>.</a:t>
            </a:r>
          </a:p>
          <a:p>
            <a:pPr marL="285750" indent="-285750" algn="just">
              <a:buFont typeface="Arial" panose="020B0604020202020204" pitchFamily="34" charset="0"/>
              <a:buChar char="•"/>
            </a:pPr>
            <a:r>
              <a:rPr lang="en-IN" sz="1600" dirty="0"/>
              <a:t>Demonstrated superior performance over linear programming approaches through robust uncertainty handling and explicit QoS metrics measurement.</a:t>
            </a:r>
          </a:p>
          <a:p>
            <a:endParaRPr lang="en-IN" sz="1600" dirty="0"/>
          </a:p>
          <a:p>
            <a:r>
              <a:rPr lang="en-IN" sz="2000" b="1" dirty="0"/>
              <a:t>Future Work</a:t>
            </a:r>
          </a:p>
          <a:p>
            <a:endParaRPr lang="en-IN" sz="1600" dirty="0"/>
          </a:p>
          <a:p>
            <a:pPr marL="285750" indent="-285750" algn="just">
              <a:buFont typeface="Arial" panose="020B0604020202020204" pitchFamily="34" charset="0"/>
              <a:buChar char="•"/>
            </a:pPr>
            <a:r>
              <a:rPr lang="en-IN" sz="1600" dirty="0"/>
              <a:t>Deploy on real SDN testbeds (Mininet-</a:t>
            </a:r>
            <a:r>
              <a:rPr lang="en-IN" sz="1600" dirty="0" err="1"/>
              <a:t>WiFi</a:t>
            </a:r>
            <a:r>
              <a:rPr lang="en-IN" sz="1600" dirty="0"/>
              <a:t>, ONOS, Ryu controllers) with actual wireless networks.</a:t>
            </a:r>
          </a:p>
          <a:p>
            <a:pPr marL="285750" indent="-285750" algn="just">
              <a:buFont typeface="Arial" panose="020B0604020202020204" pitchFamily="34" charset="0"/>
              <a:buChar char="•"/>
            </a:pPr>
            <a:r>
              <a:rPr lang="en-IN" sz="1600" dirty="0"/>
              <a:t>Integrate machine learning for predictive handoff using user trajectory forecasting and dynamic weight optimization.</a:t>
            </a:r>
          </a:p>
          <a:p>
            <a:pPr marL="285750" indent="-285750" algn="just">
              <a:buFont typeface="Arial" panose="020B0604020202020204" pitchFamily="34" charset="0"/>
              <a:buChar char="•"/>
            </a:pPr>
            <a:r>
              <a:rPr lang="en-IN" sz="1600" dirty="0"/>
              <a:t>Extend to 5G network slicing, edge computing, and multi-RAT (Wi-Fi 6, LTE, 5G NR, satellite) scenarios.</a:t>
            </a:r>
          </a:p>
          <a:p>
            <a:pPr marL="285750" indent="-285750" algn="just">
              <a:buFont typeface="Arial" panose="020B0604020202020204" pitchFamily="34" charset="0"/>
              <a:buChar char="•"/>
            </a:pPr>
            <a:r>
              <a:rPr lang="en-IN" sz="1600" dirty="0"/>
              <a:t>Optimize latency further targeting &lt;5 </a:t>
            </a:r>
            <a:r>
              <a:rPr lang="en-IN" sz="1600" dirty="0" err="1"/>
              <a:t>ms</a:t>
            </a:r>
            <a:r>
              <a:rPr lang="en-IN" sz="1600" dirty="0"/>
              <a:t> for 6G readiness and high-speed mobility (&gt;150 km/h).</a:t>
            </a:r>
          </a:p>
          <a:p>
            <a:pPr marL="285750" indent="-285750" algn="just">
              <a:buFont typeface="Arial" panose="020B0604020202020204" pitchFamily="34" charset="0"/>
              <a:buChar char="•"/>
            </a:pPr>
            <a:r>
              <a:rPr lang="en-IN" sz="1600" dirty="0"/>
              <a:t>Conduct scalability testing with 1000+ concurrent users and compare against additional MADM methods (AHP, SAW, VIKOR).</a:t>
            </a:r>
          </a:p>
        </p:txBody>
      </p:sp>
    </p:spTree>
    <p:extLst>
      <p:ext uri="{BB962C8B-B14F-4D97-AF65-F5344CB8AC3E}">
        <p14:creationId xmlns:p14="http://schemas.microsoft.com/office/powerpoint/2010/main" val="567826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3072</TotalTime>
  <Words>1540</Words>
  <Application>Microsoft Office PowerPoint</Application>
  <PresentationFormat>Widescreen</PresentationFormat>
  <Paragraphs>197</Paragraphs>
  <Slides>15</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Calibri</vt:lpstr>
      <vt:lpstr>Aharoni</vt:lpstr>
      <vt:lpstr>Arial</vt:lpstr>
      <vt:lpstr>Plus Jakarta Sans</vt:lpstr>
      <vt:lpstr>Georgia</vt:lpstr>
      <vt:lpstr>Montserrat</vt:lpstr>
      <vt:lpstr>Montserrat Medium</vt:lpstr>
      <vt:lpstr>Courier New</vt:lpstr>
      <vt:lpstr>Open Sans</vt:lpstr>
      <vt:lpstr>Verdana</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basavaraj H</cp:lastModifiedBy>
  <cp:revision>41</cp:revision>
  <dcterms:created xsi:type="dcterms:W3CDTF">2022-05-23T07:15:42Z</dcterms:created>
  <dcterms:modified xsi:type="dcterms:W3CDTF">2025-11-20T16:40:12Z</dcterms:modified>
</cp:coreProperties>
</file>